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at start: 'How many of you have written at least one Python program?' — gauge the room. 'How many haven't?' — both groups are welcome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'Name one thing your phone does every day.' Whatever they say — 'There's probably Python involved somewhere in that pipeline.'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'name = Anvesh' on board. Ask: 'In C, how many lines does this take?' (answer: 2-3 with declaration). Python: 1. That's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coding moment: write the grade calculator on board WITH the students. Ask them to tell you the conditions. They build it, you write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'Why not just copy-paste the same code?' Lead them to: debugging nightmare, 100 places to fix. DRY principle — Don't Repeat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'If you want to store a phone book — name to number — which structure?' (answer: dict). 'If you want a list of unique visitors to a site?' (set). Connecting structure to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a class is a blueprint, an object is a house built from that blueprint. Every house has the same structure but different interior. Ask: 'What attributes would a BankAccount class have?' — let students suggest.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exercise idea: write a program that reads a CSV of student marks, calculates average, and writes a results file. Entire thing uses only what we've covered so 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'What happens if the user types a letter when your code expects a number?' Let a student explain the crash. Then show how try/except prevents it. The difference between a homework submission and a deployed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mini project is a 30-45 minute lab exercise that uses EVERY concept from today. Perfect for an assignment. Advanced students can add the 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Programming: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to Intermediate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2880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Lecture  |  B.Tech CSE / AI &amp; 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Anvesh Raju Vishwaraju  |  M.S. Cybersecurity (UNCC)  |  M.Tech AI (UoH)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Why Python? — Where It Lives in the Real World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Variables, Data Types &amp; Operators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Control Flow — if / else / loops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Functions — Writing Reusable Code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Data Structures — Lists, Tuples, Dicts, Sets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Object-Oriented Programming — Classes &amp; Objects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File Handling — Reading &amp; Writing Files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Exception Handling — Writing Robust Code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Putting It Together — A Mini Project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Why Python?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#1 or #2 most used programming language globally (TIOBE, Stack Overflow Survey 2024)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syntax — code reads almost like English: no semicolons, no curly braces, indentation is the structure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ecosystem: 400,000+ packages on PyPI — data science, web, AI, automation, security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at Google, NASA, Netflix, Instagram, ISRO, RBI (IDRBT) — production at every scale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AI: NumPy, Pandas, Scikit-learn, TensorFlow, PyTorch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Cybersecurity: Scapy (packet crafting), Requests (web), Paramiko (SSH), PyCrypto (encryption)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Development: Django, Flask, FastAPI — full applications in hours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Variables, Data Types &amp; Operators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infers types automatically — no declarations needed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120640" cy="3566160"/>
          </a:xfrm>
          <a:prstGeom prst="rect">
            <a:avLst/>
          </a:prstGeom>
          <a:solidFill>
            <a:srgbClr val="0D0221"/>
          </a:solidFill>
          <a:ln w="12700">
            <a:solidFill>
              <a:srgbClr val="0900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484632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Basic data types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= 'Anvesh'        #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   = 25              # 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    = 8.75            # float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is_pass = True            # bool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 checking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print(type(name))         # &lt;class 'str'&gt;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print(type(cgpa))         # &lt;class 'float'&gt;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String operations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print(name.upper())       # ANVESH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print(len(name))          #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print(f'Hello, {name}!')  # f-strings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Arithmetic &amp; comparison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10,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// y)   # 3  (floor div)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% y)    # 1  (modulo)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** y)   # 1000 (power)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&gt; y)    # True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23560" y="1234440"/>
            <a:ext cx="3246120" cy="3566160"/>
          </a:xfrm>
          <a:prstGeom prst="rect">
            <a:avLst/>
          </a:prstGeom>
          <a:solidFill>
            <a:srgbClr val="F5EEF8"/>
          </a:solidFill>
          <a:ln w="12700">
            <a:solidFill>
              <a:srgbClr val="D7B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353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typing — Python figures out the type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str, int, float, bool are the 4 primitives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are the modern way to format output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= floor division (important for algorithms)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= modulo (used in hashing, cryptography)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= exponentiation (used in ML calculations)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Control Flow — if / else / Loops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and repeating actions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120640" cy="3566160"/>
          </a:xfrm>
          <a:prstGeom prst="rect">
            <a:avLst/>
          </a:prstGeom>
          <a:solidFill>
            <a:srgbClr val="0D0221"/>
          </a:solidFill>
          <a:ln w="12700">
            <a:solidFill>
              <a:srgbClr val="0900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484632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/ elif / else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78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marks &gt;= 90: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'A'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marks &gt;= 75: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'B'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marks &gt;= 60: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'C'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'F'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print(f'Grade: {grade}')  # Grade: 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loop with range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end=' ')  # 1 2 3 4 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while loop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count &lt; 3: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print('Hello')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+=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control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range(10):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== 5: break    # stop at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2: continue  # skip odd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23560" y="1234440"/>
            <a:ext cx="3246120" cy="3566160"/>
          </a:xfrm>
          <a:prstGeom prst="rect">
            <a:avLst/>
          </a:prstGeom>
          <a:solidFill>
            <a:srgbClr val="F5EEF8"/>
          </a:solidFill>
          <a:ln w="12700">
            <a:solidFill>
              <a:srgbClr val="D7B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353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defines blocks — no braces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= else if (Python shorthand)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range(start, stop) — stop is exclusive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end=' ' in print keeps output on one 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loop; continue skips iteration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errors are the #1 beginner mistake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Functions — Reusable, Readable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once, call anywhere — the foundation of good programming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120640" cy="3566160"/>
          </a:xfrm>
          <a:prstGeom prst="rect">
            <a:avLst/>
          </a:prstGeom>
          <a:solidFill>
            <a:srgbClr val="0D0221"/>
          </a:solidFill>
          <a:ln w="12700">
            <a:solidFill>
              <a:srgbClr val="0900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484632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Basic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f'Hello, {name}!'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print(greet('Raj'))  # Hello, Raj!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Default parameters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power(base, exp=2):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base ** exp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print(power(3))     # 9  (exp defaults to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print(power(2, 10)) # 1024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return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min_max(nums):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min(nums), max(nums)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lo, hi = min_max([4, 1, 9, 2, 7])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print(lo, hi)  # 1 9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Lambda (anonymous function)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 = lambda x: x * 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print(square(5))   # 25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comprehension (Pythonic)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[x**2 for x in range(1, 6)]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print(squares)  # [1, 4, 9, 16, 25]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23560" y="1234440"/>
            <a:ext cx="3246120" cy="3566160"/>
          </a:xfrm>
          <a:prstGeom prst="rect">
            <a:avLst/>
          </a:prstGeom>
          <a:solidFill>
            <a:srgbClr val="F5EEF8"/>
          </a:solidFill>
          <a:ln w="12700">
            <a:solidFill>
              <a:srgbClr val="D7B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353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keyword defines a function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sends value back to caller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 make functions flexible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return values via tuple unpacking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= one-line anonymous function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 = compact, Pythonic loop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Data Structures — Python's Built-In Toolkit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31920" cy="3840480"/>
          </a:xfrm>
          <a:prstGeom prst="rect">
            <a:avLst/>
          </a:prstGeom>
          <a:solidFill>
            <a:srgbClr val="F5EEF8"/>
          </a:solidFill>
          <a:ln w="12700">
            <a:solidFill>
              <a:srgbClr val="D7BD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&amp; Tuple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— ordered, mutable (changeable)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= ['apple','banana','mango']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fruits.append('grape')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fruits[0] = 'kiwi'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fruits[1:3]  # slicing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— ordered, immutable (fixed)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coords = (17.38, 78.47)  # lat, lon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coords[0] = 10  → TypeError!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tuples for data that must not 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92040" y="960120"/>
            <a:ext cx="3931920" cy="3840480"/>
          </a:xfrm>
          <a:prstGeom prst="rect">
            <a:avLst/>
          </a:prstGeom>
          <a:solidFill>
            <a:srgbClr val="F5EEF8"/>
          </a:solidFill>
          <a:ln w="12700">
            <a:solidFill>
              <a:srgbClr val="D7BD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0789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&amp; 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155448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— key:value pairs (like a lookup table)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= {'name':'Raj', 'cgpa':8.7}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student['dept'] = 'CSE'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student.get('age', 'N/A')  # safe access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k, v in student.items(): ...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— unique values only, unordered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= {'python','ml','python'}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print(tags)  # {'python','ml'} — no duplicate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sets for membership checks and deduplication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Object-Oriented Programming — Classes &amp; Objects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real-world entities as code — the backbone of large applications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120640" cy="3566160"/>
          </a:xfrm>
          <a:prstGeom prst="rect">
            <a:avLst/>
          </a:prstGeom>
          <a:solidFill>
            <a:srgbClr val="0D0221"/>
          </a:solidFill>
          <a:ln w="12700">
            <a:solidFill>
              <a:srgbClr val="0900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484632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Constructor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cgpa):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self.cgpa = cgpa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Method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is_distinction(self):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self.cgpa &gt;= 9.0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__str__(self):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f'{self.name} | CGPA: {self.cgpa}'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Inheritance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PGStudent(Student):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cgpa, thesis):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super().__init__(name, cgpa)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self.thesis = thesis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objects and call methods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Student('Raj', 9.1)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= PGStudent('Priya', 8.8, 'ML Security')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print(s1)               # Raj | CGPA: 9.1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print(s1.is_distinction()) # True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23560" y="1234440"/>
            <a:ext cx="3246120" cy="3566160"/>
          </a:xfrm>
          <a:prstGeom prst="rect">
            <a:avLst/>
          </a:prstGeom>
          <a:solidFill>
            <a:srgbClr val="F5EEF8"/>
          </a:solidFill>
          <a:ln w="12700">
            <a:solidFill>
              <a:srgbClr val="D7B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353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is the constructor — runs at object creation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refers to the current object instance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are functions inside a class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PGStudent gets all Student methods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calls the parent class constructor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 controls how object prints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| File Handling — Reading &amp; Writing Files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programs read config files, log data, process CSVs — file I/O is essential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120640" cy="3566160"/>
          </a:xfrm>
          <a:prstGeom prst="rect">
            <a:avLst/>
          </a:prstGeom>
          <a:solidFill>
            <a:srgbClr val="0D0221"/>
          </a:solidFill>
          <a:ln w="12700">
            <a:solidFill>
              <a:srgbClr val="0900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484632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Writing to a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open('students.txt', 'w') as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f.write('Raj,9.1,CSE\n')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f.write('Priya,8.8,AI\n')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Reading entire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open('students.txt', 'r') as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 = f.read()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print(content)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Reading line by 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open('students.txt', 'r') as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parts = line.strip().split(',')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name, cgpa, dept = parts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print(f'{name} studies {dept}')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Appending to existing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open('students.txt', 'a') as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f.write('Arjun,8.5,Cyber\n')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Modes: 'r'=read, 'w'=write(overwrite),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'a'=append, 'rb'=read binary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23560" y="1234440"/>
            <a:ext cx="3246120" cy="3566160"/>
          </a:xfrm>
          <a:prstGeom prst="rect">
            <a:avLst/>
          </a:prstGeom>
          <a:solidFill>
            <a:srgbClr val="F5EEF8"/>
          </a:solidFill>
          <a:ln w="12700">
            <a:solidFill>
              <a:srgbClr val="D7B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353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statement auto-closes file — always use 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'w' overwrites; 'a' appends — know the difference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 removes newline at end of each 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split(',') parses CSV-like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unpacking: name, cgpa, dept = parts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mode 'rb' needed for images, PDFs, etc.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| Exception Handling — Writing Robust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fail. Good programmers plan for failure.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120640" cy="3566160"/>
          </a:xfrm>
          <a:prstGeom prst="rect">
            <a:avLst/>
          </a:prstGeom>
          <a:solidFill>
            <a:srgbClr val="0D0221"/>
          </a:solidFill>
          <a:ln w="12700">
            <a:solidFill>
              <a:srgbClr val="0900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484632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Basic try / except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= int(input('Enter a number: '))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100 / num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print(f'Result: {result}')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print('Please enter a valid number')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ZeroDivisionError: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print('Cannot divide by zero!')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 as 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print(f'Unexpected error: {e}')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print('This always runs')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Raising custom exceptions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set_cgpa(value):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(0 &lt;= value &lt;= 10):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ValueError(f'Invalid CGPA: {value}')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set_cgpa(11)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 as 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4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print(e)  # Invalid CGPA: 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23560" y="1234440"/>
            <a:ext cx="3246120" cy="3566160"/>
          </a:xfrm>
          <a:prstGeom prst="rect">
            <a:avLst/>
          </a:prstGeom>
          <a:solidFill>
            <a:srgbClr val="F5EEF8"/>
          </a:solidFill>
          <a:ln w="12700">
            <a:solidFill>
              <a:srgbClr val="D7B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353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block contains code that might fail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catches specific error types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specific exceptions before generic ones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always runs — use for cleanup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creates a custom exception with message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apps wrap all I/O and user input in try/except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| Putting It All Together — Mini Project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Student Grade Manager — uses everything covered today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Student class with name, marks list, methods for average and grade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I/O: load student data from a CSV file on startup; save updated records on exit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Handling: handle missing file, invalid marks, wrong data types gracefully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separate functions for calculate_average(), assign_grade(), display_report()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Structures: list of Student objects; dict mapping grade to count for summary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challenges: add search by name (string methods), sort by CGPA (lambda sort), export to new file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simplicity is its superpower — readable, writable, and deployable fast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types, and control flow are the foundation everything else builds on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make code reusable; OOP makes code scalable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and exception handling are what separate working code from production code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here: data science, ML, web dev, cybersecurity — Python takes you everywhere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– Basics to Intermediate</dc:title>
  <dc:subject>PptxGenJS Presentation</dc:subject>
  <dc:creator>Anvesh Raju Vishwaraju</dc:creator>
  <cp:lastModifiedBy>Anvesh Raju Vishwaraju</cp:lastModifiedBy>
  <cp:revision>1</cp:revision>
  <dcterms:created xsi:type="dcterms:W3CDTF">2026-04-24T06:24:00Z</dcterms:created>
  <dcterms:modified xsi:type="dcterms:W3CDTF">2026-04-24T06:24:00Z</dcterms:modified>
</cp:coreProperties>
</file>