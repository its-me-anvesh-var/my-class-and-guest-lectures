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'Raise your hand if you've received a suspicious message. Now keep it raised if you think software generated it.' Pause. 'That's the intersection we're exploring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'I'll show you Python code at key points — not to teach syntax, but to show you that what we're discussing is buildable. Right now. With what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stat: '3.5 million security jobs globally unfilled right now. You are in the right department at exactly the right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Python concepts does this use?' Let students call out answers — loop, library, conditional. Then reveal: 'And this is what a penetration tester runs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when the attacker also has GPT?' Pause 5 seconds. Let it land. Then: 'That's why defenders also need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other features would make this more accurate?' Good answers: number of links, sender reputation, urgency words like 'Act now'. This opens a discussion on feature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box slowly. After Box 3 ask: 'Where do you think most false positives happen?' Answer: Boxes 3-4. That's why threshold tuning is a real engineering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'Alice's 2am foreign login with 7 failed attempts will be flagged. Four lines of sklearn. This is detection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'wow moment' snippet. Write it on the board slowly. Ask: 'What modules did we use?' math and collections — both built-in, no install needed. Basic Python, real security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Tactic → Technique → Sub-technique hierarchy on the board. Say: 'At IDRBT I mapped APT campaigns against Indian banks to this framework. That's how we built targeted detection logic for the BFSI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my research area — adversarial ML for BFSI threat detection at IDRBT. It's also where AI and cybersecurity intersect most deeply as a research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'It's Tuesday morning. An IT admin at a private bank opens her email...' Walk each row, ask 'where could this have been stopped?' before revealing the detection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 by audience: Year 1-2: 'Start a Linux VM. Install Kali. Break things safely.' Year 3-4: 'GitHub profile, one cert before placement season, Security+ is achievable in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'Every concept we covered today is buildable with Python. The language from your first semester is the same one powering production security systems at banks and cloud providers. The distance between where you are and where you want to be is mostly practice and curiosity.' Then pause 3 seconds, say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A896"/>
          </a:solidFill>
          <a:ln w="12700">
            <a:solidFill>
              <a:srgbClr val="00A896"/>
            </a:solidFill>
            <a:prstDash val="solid"/>
          </a:ln>
        </p:spPr>
      </p:sp>
      <p:sp>
        <p:nvSpPr>
          <p:cNvPr id="3" name="Text 1"/>
          <p:cNvSpPr/>
          <p:nvPr/>
        </p:nvSpPr>
        <p:spPr>
          <a:xfrm>
            <a:off x="411480" y="1097280"/>
            <a:ext cx="8321040" cy="164592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AI in Cybersecurity:</a:t>
            </a:r>
            <a:endParaRPr lang="en-US" sz="3800" dirty="0"/>
          </a:p>
          <a:p>
            <a:pPr algn="l" indent="0" marL="0">
              <a:buNone/>
            </a:pPr>
            <a:r>
              <a:rPr lang="en-US" sz="3800" b="1" dirty="0">
                <a:solidFill>
                  <a:srgbClr val="FFFFFF"/>
                </a:solidFill>
                <a:latin typeface="Calibri" pitchFamily="34" charset="0"/>
                <a:ea typeface="Calibri" pitchFamily="34" charset="-122"/>
                <a:cs typeface="Calibri" pitchFamily="34" charset="-120"/>
              </a:rPr>
              <a:t>Threats, Defenses &amp; the Future</a:t>
            </a:r>
            <a:endParaRPr lang="en-US" sz="3800" dirty="0"/>
          </a:p>
        </p:txBody>
      </p:sp>
      <p:sp>
        <p:nvSpPr>
          <p:cNvPr id="4" name="Text 2"/>
          <p:cNvSpPr/>
          <p:nvPr/>
        </p:nvSpPr>
        <p:spPr>
          <a:xfrm>
            <a:off x="411480" y="2834640"/>
            <a:ext cx="8321040" cy="548640"/>
          </a:xfrm>
          <a:prstGeom prst="rect">
            <a:avLst/>
          </a:prstGeom>
          <a:noFill/>
          <a:ln/>
        </p:spPr>
        <p:txBody>
          <a:bodyPr wrap="square" lIns="0" tIns="0" rIns="0" bIns="0" rtlCol="0" anchor="ctr"/>
          <a:lstStyle/>
          <a:p>
            <a:pPr algn="l" indent="0" marL="0">
              <a:buNone/>
            </a:pPr>
            <a:r>
              <a:rPr lang="en-US" sz="1700" dirty="0">
                <a:solidFill>
                  <a:srgbClr val="02C39A"/>
                </a:solidFill>
                <a:latin typeface="Calibri" pitchFamily="34" charset="0"/>
                <a:ea typeface="Calibri" pitchFamily="34" charset="-122"/>
                <a:cs typeface="Calibri" pitchFamily="34" charset="-120"/>
              </a:rPr>
              <a:t>Fundamentals + Python  |  Mixed Audience  |  B.Tech / M.Tech CSE / AI &amp; ML</a:t>
            </a:r>
            <a:endParaRPr lang="en-US" sz="1700" dirty="0"/>
          </a:p>
        </p:txBody>
      </p:sp>
      <p:sp>
        <p:nvSpPr>
          <p:cNvPr id="5" name="Text 3"/>
          <p:cNvSpPr/>
          <p:nvPr/>
        </p:nvSpPr>
        <p:spPr>
          <a:xfrm>
            <a:off x="411480" y="4389120"/>
            <a:ext cx="8321040" cy="36576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Anvesh Raju Vishwaraju  |  M.S. Cybersecurity (UNCC)  |  M.Tech AI (UoH)  |  Research: IDRBT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Today's Agenda</a:t>
            </a:r>
            <a:endParaRPr lang="en-US" sz="2600" dirty="0"/>
          </a:p>
        </p:txBody>
      </p:sp>
      <p:sp>
        <p:nvSpPr>
          <p:cNvPr id="4" name="Text 2"/>
          <p:cNvSpPr/>
          <p:nvPr/>
        </p:nvSpPr>
        <p:spPr>
          <a:xfrm>
            <a:off x="457200" y="1005840"/>
            <a:ext cx="8229600" cy="3840480"/>
          </a:xfrm>
          <a:prstGeom prst="rect">
            <a:avLst/>
          </a:prstGeom>
          <a:noFill/>
          <a:ln/>
        </p:spPr>
        <p:txBody>
          <a:bodyPr wrap="square" rtlCol="0" anchor="ctr"/>
          <a:lstStyle/>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01  Why Cybersecurity Matters — Scale &amp; Stakes</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02  How AI Changes the Threat Landscape</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03  Python in Action: Phishing Detection</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04  ML-Powered SOC Defense — The Pipeline</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05  Python in Action: Anomaly Detection + DNS Entropy</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06  MITRE ATT&amp;CK — Mapping Attacks</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07  Adversarial ML — When AI Attacks AI</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08  Real Case Study — APT Attack on a Bank</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09  Career Pathways &amp; Key Takeaways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0D1B2A"/>
                </a:solidFill>
                <a:latin typeface="Calibri" pitchFamily="34" charset="0"/>
                <a:ea typeface="Calibri" pitchFamily="34" charset="-122"/>
                <a:cs typeface="Calibri" pitchFamily="34" charset="-120"/>
              </a:rPr>
              <a:t>01 | Why Cybersecurity Matters Today</a:t>
            </a:r>
            <a:endParaRPr lang="en-US" sz="2400" dirty="0"/>
          </a:p>
        </p:txBody>
      </p:sp>
      <p:sp>
        <p:nvSpPr>
          <p:cNvPr id="4" name="Shape 2"/>
          <p:cNvSpPr/>
          <p:nvPr/>
        </p:nvSpPr>
        <p:spPr>
          <a:xfrm>
            <a:off x="320040" y="960120"/>
            <a:ext cx="8503920" cy="1170432"/>
          </a:xfrm>
          <a:prstGeom prst="rect">
            <a:avLst/>
          </a:prstGeom>
          <a:solidFill>
            <a:srgbClr val="E6FAF7"/>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320040" y="960120"/>
            <a:ext cx="82296" cy="1170432"/>
          </a:xfrm>
          <a:prstGeom prst="rect">
            <a:avLst/>
          </a:prstGeom>
          <a:solidFill>
            <a:srgbClr val="00A896"/>
          </a:solidFill>
          <a:ln w="12700">
            <a:solidFill>
              <a:srgbClr val="00A896"/>
            </a:solidFill>
            <a:prstDash val="solid"/>
          </a:ln>
        </p:spPr>
      </p:sp>
      <p:sp>
        <p:nvSpPr>
          <p:cNvPr id="6" name="Text 4"/>
          <p:cNvSpPr/>
          <p:nvPr/>
        </p:nvSpPr>
        <p:spPr>
          <a:xfrm>
            <a:off x="502920" y="1033272"/>
            <a:ext cx="2011680" cy="274320"/>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  Analogy</a:t>
            </a:r>
            <a:endParaRPr lang="en-US" sz="1100" dirty="0"/>
          </a:p>
        </p:txBody>
      </p:sp>
      <p:sp>
        <p:nvSpPr>
          <p:cNvPr id="7" name="Text 5"/>
          <p:cNvSpPr/>
          <p:nvPr/>
        </p:nvSpPr>
        <p:spPr>
          <a:xfrm>
            <a:off x="502920" y="1344168"/>
            <a:ext cx="8138160" cy="685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Think of the internet as a city — roads, banks, hospitals, homes all connected. Now imagine no locks, no police, no CCTV. That's where we were online 20 years ago. We've been retrofitting security ever since.</a:t>
            </a:r>
            <a:endParaRPr lang="en-US" sz="1300" dirty="0"/>
          </a:p>
        </p:txBody>
      </p:sp>
      <p:sp>
        <p:nvSpPr>
          <p:cNvPr id="8" name="Shape 6"/>
          <p:cNvSpPr/>
          <p:nvPr/>
        </p:nvSpPr>
        <p:spPr>
          <a:xfrm>
            <a:off x="320040" y="2258568"/>
            <a:ext cx="8503920" cy="1170432"/>
          </a:xfrm>
          <a:prstGeom prst="rect">
            <a:avLst/>
          </a:prstGeom>
          <a:solidFill>
            <a:srgbClr val="EAF4F2"/>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320040" y="2258568"/>
            <a:ext cx="82296" cy="1170432"/>
          </a:xfrm>
          <a:prstGeom prst="rect">
            <a:avLst/>
          </a:prstGeom>
          <a:solidFill>
            <a:srgbClr val="0D1B2A"/>
          </a:solidFill>
          <a:ln w="12700">
            <a:solidFill>
              <a:srgbClr val="0D1B2A"/>
            </a:solidFill>
            <a:prstDash val="solid"/>
          </a:ln>
        </p:spPr>
      </p:sp>
      <p:sp>
        <p:nvSpPr>
          <p:cNvPr id="10" name="Text 8"/>
          <p:cNvSpPr/>
          <p:nvPr/>
        </p:nvSpPr>
        <p:spPr>
          <a:xfrm>
            <a:off x="502920" y="2331720"/>
            <a:ext cx="201168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Concept</a:t>
            </a:r>
            <a:endParaRPr lang="en-US" sz="1100" dirty="0"/>
          </a:p>
        </p:txBody>
      </p:sp>
      <p:sp>
        <p:nvSpPr>
          <p:cNvPr id="11" name="Text 9"/>
          <p:cNvSpPr/>
          <p:nvPr/>
        </p:nvSpPr>
        <p:spPr>
          <a:xfrm>
            <a:off x="502920" y="2642616"/>
            <a:ext cx="8138160" cy="685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Every digital service has an attack surface — all entry points an attacker can try. More features, more APIs, more integrations = larger attack surface. India's UPI, Aadhaar, ONDC growth creates massive economic value AND new attack vectors simultaneously.</a:t>
            </a:r>
            <a:endParaRPr lang="en-US" sz="1300" dirty="0"/>
          </a:p>
        </p:txBody>
      </p:sp>
      <p:sp>
        <p:nvSpPr>
          <p:cNvPr id="12" name="Shape 10"/>
          <p:cNvSpPr/>
          <p:nvPr/>
        </p:nvSpPr>
        <p:spPr>
          <a:xfrm>
            <a:off x="320040" y="3557016"/>
            <a:ext cx="8503920" cy="1170432"/>
          </a:xfrm>
          <a:prstGeom prst="rect">
            <a:avLst/>
          </a:prstGeom>
          <a:solidFill>
            <a:srgbClr val="FFF3EE"/>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320040" y="3557016"/>
            <a:ext cx="82296" cy="1170432"/>
          </a:xfrm>
          <a:prstGeom prst="rect">
            <a:avLst/>
          </a:prstGeom>
          <a:solidFill>
            <a:srgbClr val="F4845F"/>
          </a:solidFill>
          <a:ln w="12700">
            <a:solidFill>
              <a:srgbClr val="F4845F"/>
            </a:solidFill>
            <a:prstDash val="solid"/>
          </a:ln>
        </p:spPr>
      </p:sp>
      <p:sp>
        <p:nvSpPr>
          <p:cNvPr id="14" name="Text 12"/>
          <p:cNvSpPr/>
          <p:nvPr/>
        </p:nvSpPr>
        <p:spPr>
          <a:xfrm>
            <a:off x="502920" y="3630168"/>
            <a:ext cx="2011680" cy="274320"/>
          </a:xfrm>
          <a:prstGeom prst="rect">
            <a:avLst/>
          </a:prstGeom>
          <a:noFill/>
          <a:ln/>
        </p:spPr>
        <p:txBody>
          <a:bodyPr wrap="square" lIns="0" tIns="0" rIns="0" bIns="0" rtlCol="0" anchor="ctr"/>
          <a:lstStyle/>
          <a:p>
            <a:pPr indent="0" marL="0">
              <a:buNone/>
            </a:pPr>
            <a:r>
              <a:rPr lang="en-US" sz="1100" b="1" dirty="0">
                <a:solidFill>
                  <a:srgbClr val="F4845F"/>
                </a:solidFill>
                <a:latin typeface="Calibri" pitchFamily="34" charset="0"/>
                <a:ea typeface="Calibri" pitchFamily="34" charset="-122"/>
                <a:cs typeface="Calibri" pitchFamily="34" charset="-120"/>
              </a:rPr>
              <a:t>🐍  Python</a:t>
            </a:r>
            <a:endParaRPr lang="en-US" sz="1100" dirty="0"/>
          </a:p>
        </p:txBody>
      </p:sp>
      <p:sp>
        <p:nvSpPr>
          <p:cNvPr id="15" name="Text 13"/>
          <p:cNvSpPr/>
          <p:nvPr/>
        </p:nvSpPr>
        <p:spPr>
          <a:xfrm>
            <a:off x="502920" y="3941064"/>
            <a:ext cx="8138160" cy="685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Python's socket library can scan open ports in ~4 lines — the first step of ethical hacking. Context transforms basic code into a professional security tool. → See next slide.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2C39A"/>
          </a:solidFill>
          <a:ln w="12700">
            <a:solidFill>
              <a:srgbClr val="02C39A"/>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 Python in Action — Mapping the Attack Surface</a:t>
            </a:r>
            <a:endParaRPr lang="en-US" sz="2200" dirty="0"/>
          </a:p>
        </p:txBody>
      </p:sp>
      <p:sp>
        <p:nvSpPr>
          <p:cNvPr id="4" name="Text 2"/>
          <p:cNvSpPr/>
          <p:nvPr/>
        </p:nvSpPr>
        <p:spPr>
          <a:xfrm>
            <a:off x="457200" y="749808"/>
            <a:ext cx="8229600" cy="438912"/>
          </a:xfrm>
          <a:prstGeom prst="rect">
            <a:avLst/>
          </a:prstGeom>
          <a:noFill/>
          <a:ln/>
        </p:spPr>
        <p:txBody>
          <a:bodyPr wrap="square" lIns="0" tIns="0" rIns="0" bIns="0" rtlCol="0" anchor="ctr"/>
          <a:lstStyle/>
          <a:p>
            <a:pPr algn="l" indent="0" marL="0">
              <a:buNone/>
            </a:pPr>
            <a:r>
              <a:rPr lang="en-US" sz="1300" dirty="0">
                <a:solidFill>
                  <a:srgbClr val="02C39A"/>
                </a:solidFill>
                <a:latin typeface="Calibri" pitchFamily="34" charset="0"/>
                <a:ea typeface="Calibri" pitchFamily="34" charset="-122"/>
                <a:cs typeface="Calibri" pitchFamily="34" charset="-120"/>
              </a:rPr>
              <a:t>A port scanner finds which services a server is running. Ethical hackers use this as Step 1 of every engagement. Just loops + sockets.</a:t>
            </a:r>
            <a:endParaRPr lang="en-US" sz="1300" dirty="0"/>
          </a:p>
        </p:txBody>
      </p:sp>
      <p:sp>
        <p:nvSpPr>
          <p:cNvPr id="5" name="Shape 3"/>
          <p:cNvSpPr/>
          <p:nvPr/>
        </p:nvSpPr>
        <p:spPr>
          <a:xfrm>
            <a:off x="365760" y="1261872"/>
            <a:ext cx="8412480" cy="3108960"/>
          </a:xfrm>
          <a:prstGeom prst="rect">
            <a:avLst/>
          </a:prstGeom>
          <a:solidFill>
            <a:srgbClr val="1A2535"/>
          </a:solidFill>
          <a:ln w="12700">
            <a:solidFill>
              <a:srgbClr val="2A3A50"/>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594360" y="1389888"/>
            <a:ext cx="7955280" cy="2834640"/>
          </a:xfrm>
          <a:prstGeom prst="rect">
            <a:avLst/>
          </a:prstGeom>
          <a:noFill/>
          <a:ln/>
        </p:spPr>
        <p:txBody>
          <a:bodyPr wrap="square" lIns="0" tIns="0" rIns="0" bIns="0" rtlCol="0" anchor="ctr"/>
          <a:lstStyle/>
          <a:p>
            <a:pPr indent="0" marL="0">
              <a:buNone/>
            </a:pPr>
            <a:r>
              <a:rPr lang="en-US" sz="1200" dirty="0">
                <a:solidFill>
                  <a:srgbClr val="FFD166"/>
                </a:solidFill>
                <a:latin typeface="Courier New" pitchFamily="34" charset="0"/>
                <a:ea typeface="Courier New" pitchFamily="34" charset="-122"/>
                <a:cs typeface="Courier New" pitchFamily="34" charset="-120"/>
              </a:rPr>
              <a:t>import socket</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Basic port scanner — foundation of ethical hacking</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target = 'example.com'</a:t>
            </a:r>
            <a:endParaRPr lang="en-US" sz="1200" dirty="0"/>
          </a:p>
          <a:p>
            <a:pPr indent="0" marL="0">
              <a:buNone/>
            </a:pP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for port in range(20, 1025):</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s = socket.socket()</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s.settimeout(0.5)</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if s.connect_ex((target, port)) == 0:</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print(f'Port {port} is OPEN')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s.close()</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OUTPUT EXAMPLE:</a:t>
            </a: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Port 22 is OPEN   ← SSH</a:t>
            </a: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Port 80 is OPEN   ← HTTP</a:t>
            </a: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Port 443 is OPEN  ← HTTPS</a:t>
            </a:r>
            <a:endParaRPr lang="en-US" sz="1200" dirty="0"/>
          </a:p>
        </p:txBody>
      </p:sp>
      <p:sp>
        <p:nvSpPr>
          <p:cNvPr id="7" name="Text 5"/>
          <p:cNvSpPr/>
          <p:nvPr/>
        </p:nvSpPr>
        <p:spPr>
          <a:xfrm>
            <a:off x="457200" y="4498848"/>
            <a:ext cx="8229600" cy="347472"/>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Python concepts used: for loop, socket library, f-strings, conditionals. Year 1 stuff — professional outcome.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02 | How AI Changes the Threat Landscape</a:t>
            </a:r>
            <a:endParaRPr lang="en-US" sz="2600" dirty="0"/>
          </a:p>
        </p:txBody>
      </p:sp>
      <p:sp>
        <p:nvSpPr>
          <p:cNvPr id="4" name="Shape 2"/>
          <p:cNvSpPr/>
          <p:nvPr/>
        </p:nvSpPr>
        <p:spPr>
          <a:xfrm>
            <a:off x="274320" y="960120"/>
            <a:ext cx="4069080" cy="3840480"/>
          </a:xfrm>
          <a:prstGeom prst="rect">
            <a:avLst/>
          </a:prstGeom>
          <a:solidFill>
            <a:srgbClr val="EAF4F2"/>
          </a:solidFill>
          <a:ln w="10160">
            <a:solidFill>
              <a:srgbClr val="CCECEC"/>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74320" y="960120"/>
            <a:ext cx="4069080" cy="384048"/>
          </a:xfrm>
          <a:prstGeom prst="rect">
            <a:avLst/>
          </a:prstGeom>
          <a:solidFill>
            <a:srgbClr val="0D1B2A"/>
          </a:solidFill>
          <a:ln w="12700">
            <a:solidFill>
              <a:srgbClr val="0D1B2A"/>
            </a:solidFill>
            <a:prstDash val="solid"/>
          </a:ln>
        </p:spPr>
      </p:sp>
      <p:sp>
        <p:nvSpPr>
          <p:cNvPr id="6" name="Text 4"/>
          <p:cNvSpPr/>
          <p:nvPr/>
        </p:nvSpPr>
        <p:spPr>
          <a:xfrm>
            <a:off x="411480" y="1005840"/>
            <a:ext cx="37490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Traditional Attacks</a:t>
            </a:r>
            <a:endParaRPr lang="en-US" sz="1300" dirty="0"/>
          </a:p>
        </p:txBody>
      </p:sp>
      <p:sp>
        <p:nvSpPr>
          <p:cNvPr id="7" name="Text 5"/>
          <p:cNvSpPr/>
          <p:nvPr/>
        </p:nvSpPr>
        <p:spPr>
          <a:xfrm>
            <a:off x="411480" y="1417320"/>
            <a:ext cx="3794760" cy="32461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Phishing crafted manually — generic, low conversion</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Known malware — caught by signature-based AV</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Brute-force — slow, noisy, easy to block</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Predictable patterns — defenders know the playbook</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Manual reconnaissance — slow, limited scale</a:t>
            </a:r>
            <a:endParaRPr lang="en-US" sz="1300" dirty="0"/>
          </a:p>
        </p:txBody>
      </p:sp>
      <p:sp>
        <p:nvSpPr>
          <p:cNvPr id="8" name="Shape 6"/>
          <p:cNvSpPr/>
          <p:nvPr/>
        </p:nvSpPr>
        <p:spPr>
          <a:xfrm>
            <a:off x="4754880" y="960120"/>
            <a:ext cx="4069080" cy="3840480"/>
          </a:xfrm>
          <a:prstGeom prst="rect">
            <a:avLst/>
          </a:prstGeom>
          <a:solidFill>
            <a:srgbClr val="EAF4F2"/>
          </a:solidFill>
          <a:ln w="10160">
            <a:solidFill>
              <a:srgbClr val="CCECEC"/>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754880" y="960120"/>
            <a:ext cx="4069080" cy="384048"/>
          </a:xfrm>
          <a:prstGeom prst="rect">
            <a:avLst/>
          </a:prstGeom>
          <a:solidFill>
            <a:srgbClr val="00A896"/>
          </a:solidFill>
          <a:ln w="12700">
            <a:solidFill>
              <a:srgbClr val="00A896"/>
            </a:solidFill>
            <a:prstDash val="solid"/>
          </a:ln>
        </p:spPr>
      </p:sp>
      <p:sp>
        <p:nvSpPr>
          <p:cNvPr id="10" name="Text 8"/>
          <p:cNvSpPr/>
          <p:nvPr/>
        </p:nvSpPr>
        <p:spPr>
          <a:xfrm>
            <a:off x="4892040" y="1005840"/>
            <a:ext cx="37490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AI-Powered Attacks</a:t>
            </a:r>
            <a:endParaRPr lang="en-US" sz="1300" dirty="0"/>
          </a:p>
        </p:txBody>
      </p:sp>
      <p:sp>
        <p:nvSpPr>
          <p:cNvPr id="11" name="Text 9"/>
          <p:cNvSpPr/>
          <p:nvPr/>
        </p:nvSpPr>
        <p:spPr>
          <a:xfrm>
            <a:off x="4892040" y="1417320"/>
            <a:ext cx="3794760" cy="32461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LLM-generated spearphishing — personalized at massive scale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Polymorphic &amp; fileless malware — rewrites itself, no signature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Credential stuffing with ML — learns which combos work</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Adaptive evasion — learns from detection, avoids triggers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Automated zero-day discovery — finds bugs faster than humans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2C39A"/>
          </a:solidFill>
          <a:ln w="12700">
            <a:solidFill>
              <a:srgbClr val="02C39A"/>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 Python in Action — Phishing Detection</a:t>
            </a:r>
            <a:endParaRPr lang="en-US" sz="2200" dirty="0"/>
          </a:p>
        </p:txBody>
      </p:sp>
      <p:sp>
        <p:nvSpPr>
          <p:cNvPr id="4" name="Text 2"/>
          <p:cNvSpPr/>
          <p:nvPr/>
        </p:nvSpPr>
        <p:spPr>
          <a:xfrm>
            <a:off x="457200" y="749808"/>
            <a:ext cx="8229600" cy="438912"/>
          </a:xfrm>
          <a:prstGeom prst="rect">
            <a:avLst/>
          </a:prstGeom>
          <a:noFill/>
          <a:ln/>
        </p:spPr>
        <p:txBody>
          <a:bodyPr wrap="square" lIns="0" tIns="0" rIns="0" bIns="0" rtlCol="0" anchor="ctr"/>
          <a:lstStyle/>
          <a:p>
            <a:pPr algn="l" indent="0" marL="0">
              <a:buNone/>
            </a:pPr>
            <a:r>
              <a:rPr lang="en-US" sz="1300" dirty="0">
                <a:solidFill>
                  <a:srgbClr val="02C39A"/>
                </a:solidFill>
                <a:latin typeface="Calibri" pitchFamily="34" charset="0"/>
                <a:ea typeface="Calibri" pitchFamily="34" charset="-122"/>
                <a:cs typeface="Calibri" pitchFamily="34" charset="-120"/>
              </a:rPr>
              <a:t>Spam filters score emails using features: domain age, misspellings, suspicious links. Here's the logic in plain Python.</a:t>
            </a:r>
            <a:endParaRPr lang="en-US" sz="1300" dirty="0"/>
          </a:p>
        </p:txBody>
      </p:sp>
      <p:sp>
        <p:nvSpPr>
          <p:cNvPr id="5" name="Shape 3"/>
          <p:cNvSpPr/>
          <p:nvPr/>
        </p:nvSpPr>
        <p:spPr>
          <a:xfrm>
            <a:off x="365760" y="1261872"/>
            <a:ext cx="8412480" cy="3108960"/>
          </a:xfrm>
          <a:prstGeom prst="rect">
            <a:avLst/>
          </a:prstGeom>
          <a:solidFill>
            <a:srgbClr val="1A2535"/>
          </a:solidFill>
          <a:ln w="12700">
            <a:solidFill>
              <a:srgbClr val="2A3A50"/>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594360" y="1389888"/>
            <a:ext cx="7955280" cy="2834640"/>
          </a:xfrm>
          <a:prstGeom prst="rect">
            <a:avLst/>
          </a:prstGeom>
          <a:noFill/>
          <a:ln/>
        </p:spPr>
        <p:txBody>
          <a:bodyPr wrap="square" lIns="0" tIns="0" rIns="0" bIns="0" rtlCol="0" anchor="ctr"/>
          <a:lstStyle/>
          <a:p>
            <a:pPr indent="0" marL="0">
              <a:buNone/>
            </a:pPr>
            <a:r>
              <a:rPr lang="en-US" sz="1200" dirty="0">
                <a:solidFill>
                  <a:srgbClr val="FFD166"/>
                </a:solidFill>
                <a:latin typeface="Courier New" pitchFamily="34" charset="0"/>
                <a:ea typeface="Courier New" pitchFamily="34" charset="-122"/>
                <a:cs typeface="Courier New" pitchFamily="34" charset="-120"/>
              </a:rPr>
              <a:t>import whois</a:t>
            </a: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from datetime import datetime</a:t>
            </a: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from textblob import TextBlob</a:t>
            </a:r>
            <a:endParaRPr lang="en-US" sz="1200" dirty="0"/>
          </a:p>
          <a:p>
            <a:pPr indent="0" marL="0">
              <a:buNone/>
            </a:pP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def phishing_score(email_text, sender_domain):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 Feature 1: How old is the sending 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info = whois.whois(sender_domain)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age_days = (datetime.now() - info.creation_date).days</a:t>
            </a:r>
            <a:endParaRPr lang="en-US" sz="1200" dirty="0"/>
          </a:p>
          <a:p>
            <a:pPr indent="0" marL="0">
              <a:buNone/>
            </a:pP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 Feature 2: Count misspellings (phishing often has typos)</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blob = TextBlob(email_text)</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typos = sum(1 for w in blob.words</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if blob.Word(w).spellcheck()[0][1] &lt; 1.0)</a:t>
            </a:r>
            <a:endParaRPr lang="en-US" sz="1200" dirty="0"/>
          </a:p>
          <a:p>
            <a:pPr indent="0" marL="0">
              <a:buNone/>
            </a:pP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score = typos * 2</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if age_days &lt; 30: score += 50  # new domain = very suspicious</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return score</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score &gt; 50 → flag as likely phishing</a:t>
            </a:r>
            <a:endParaRPr lang="en-US" sz="1200" dirty="0"/>
          </a:p>
        </p:txBody>
      </p:sp>
      <p:sp>
        <p:nvSpPr>
          <p:cNvPr id="7" name="Text 5"/>
          <p:cNvSpPr/>
          <p:nvPr/>
        </p:nvSpPr>
        <p:spPr>
          <a:xfrm>
            <a:off x="457200" y="4498848"/>
            <a:ext cx="8229600" cy="347472"/>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Libraries: whois, textblob, datetime. Concepts: functions, conditionals, list comprehension, string processing.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04 | ML-Powered SOC Defense — The Pipeline</a:t>
            </a:r>
            <a:endParaRPr lang="en-US" sz="2600" dirty="0"/>
          </a:p>
        </p:txBody>
      </p:sp>
      <p:sp>
        <p:nvSpPr>
          <p:cNvPr id="4" name="Shape 2"/>
          <p:cNvSpPr/>
          <p:nvPr/>
        </p:nvSpPr>
        <p:spPr>
          <a:xfrm>
            <a:off x="768096" y="1097280"/>
            <a:ext cx="1389888" cy="2926080"/>
          </a:xfrm>
          <a:prstGeom prst="rect">
            <a:avLst/>
          </a:prstGeom>
          <a:solidFill>
            <a:srgbClr val="0D1B2A"/>
          </a:solidFill>
          <a:ln w="12700">
            <a:solidFill>
              <a:srgbClr val="0D1B2A"/>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768096" y="1188720"/>
            <a:ext cx="138988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768096" y="1600200"/>
            <a:ext cx="13898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Ingestion</a:t>
            </a:r>
            <a:endParaRPr lang="en-US" sz="1100" dirty="0"/>
          </a:p>
        </p:txBody>
      </p:sp>
      <p:sp>
        <p:nvSpPr>
          <p:cNvPr id="7" name="Text 5"/>
          <p:cNvSpPr/>
          <p:nvPr/>
        </p:nvSpPr>
        <p:spPr>
          <a:xfrm>
            <a:off x="822960" y="2121408"/>
            <a:ext cx="1280160" cy="1783080"/>
          </a:xfrm>
          <a:prstGeom prst="rect">
            <a:avLst/>
          </a:prstGeom>
          <a:noFill/>
          <a:ln/>
        </p:spPr>
        <p:txBody>
          <a:bodyPr wrap="square" rtlCol="0" anchor="ctr"/>
          <a:lstStyle/>
          <a:p>
            <a:pPr algn="ctr" indent="0" marL="0">
              <a:buNone/>
            </a:pPr>
            <a:r>
              <a:rPr lang="en-US" sz="1000" dirty="0">
                <a:solidFill>
                  <a:srgbClr val="EAF4F2"/>
                </a:solidFill>
                <a:latin typeface="Calibri" pitchFamily="34" charset="0"/>
                <a:ea typeface="Calibri" pitchFamily="34" charset="-122"/>
                <a:cs typeface="Calibri" pitchFamily="34" charset="-120"/>
              </a:rPr>
              <a:t>Logs, NetFlow, endpoint telemetry fed into SIEM (Splunk, QRadar)</a:t>
            </a:r>
            <a:endParaRPr lang="en-US" sz="1000" dirty="0"/>
          </a:p>
        </p:txBody>
      </p:sp>
      <p:sp>
        <p:nvSpPr>
          <p:cNvPr id="8" name="Shape 6"/>
          <p:cNvSpPr/>
          <p:nvPr/>
        </p:nvSpPr>
        <p:spPr>
          <a:xfrm>
            <a:off x="2157984" y="2560320"/>
            <a:ext cx="164592" cy="0"/>
          </a:xfrm>
          <a:prstGeom prst="line">
            <a:avLst/>
          </a:prstGeom>
          <a:noFill/>
          <a:ln w="19050">
            <a:solidFill>
              <a:srgbClr val="94A3B8"/>
            </a:solidFill>
            <a:prstDash val="solid"/>
          </a:ln>
        </p:spPr>
      </p:sp>
      <p:sp>
        <p:nvSpPr>
          <p:cNvPr id="9" name="Shape 7"/>
          <p:cNvSpPr/>
          <p:nvPr/>
        </p:nvSpPr>
        <p:spPr>
          <a:xfrm>
            <a:off x="2322576" y="1097280"/>
            <a:ext cx="1389888" cy="2926080"/>
          </a:xfrm>
          <a:prstGeom prst="rect">
            <a:avLst/>
          </a:prstGeom>
          <a:solidFill>
            <a:srgbClr val="00A896"/>
          </a:solidFill>
          <a:ln w="12700">
            <a:solidFill>
              <a:srgbClr val="00A896"/>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2322576" y="1188720"/>
            <a:ext cx="138988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2322576" y="1600200"/>
            <a:ext cx="13898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Extraction</a:t>
            </a:r>
            <a:endParaRPr lang="en-US" sz="1100" dirty="0"/>
          </a:p>
        </p:txBody>
      </p:sp>
      <p:sp>
        <p:nvSpPr>
          <p:cNvPr id="12" name="Text 10"/>
          <p:cNvSpPr/>
          <p:nvPr/>
        </p:nvSpPr>
        <p:spPr>
          <a:xfrm>
            <a:off x="2377440" y="2121408"/>
            <a:ext cx="1280160" cy="1783080"/>
          </a:xfrm>
          <a:prstGeom prst="rect">
            <a:avLst/>
          </a:prstGeom>
          <a:noFill/>
          <a:ln/>
        </p:spPr>
        <p:txBody>
          <a:bodyPr wrap="square" rtlCol="0" anchor="ctr"/>
          <a:lstStyle/>
          <a:p>
            <a:pPr algn="ctr" indent="0" marL="0">
              <a:buNone/>
            </a:pPr>
            <a:r>
              <a:rPr lang="en-US" sz="1000" dirty="0">
                <a:solidFill>
                  <a:srgbClr val="0D1B2A"/>
                </a:solidFill>
                <a:latin typeface="Calibri" pitchFamily="34" charset="0"/>
                <a:ea typeface="Calibri" pitchFamily="34" charset="-122"/>
                <a:cs typeface="Calibri" pitchFamily="34" charset="-120"/>
              </a:rPr>
              <a:t>Time-series, frequency, entropy computed from raw events (Python/pandas)</a:t>
            </a:r>
            <a:endParaRPr lang="en-US" sz="1000" dirty="0"/>
          </a:p>
        </p:txBody>
      </p:sp>
      <p:sp>
        <p:nvSpPr>
          <p:cNvPr id="13" name="Shape 11"/>
          <p:cNvSpPr/>
          <p:nvPr/>
        </p:nvSpPr>
        <p:spPr>
          <a:xfrm>
            <a:off x="3712464" y="2560320"/>
            <a:ext cx="164592" cy="0"/>
          </a:xfrm>
          <a:prstGeom prst="line">
            <a:avLst/>
          </a:prstGeom>
          <a:noFill/>
          <a:ln w="19050">
            <a:solidFill>
              <a:srgbClr val="94A3B8"/>
            </a:solidFill>
            <a:prstDash val="solid"/>
          </a:ln>
        </p:spPr>
      </p:sp>
      <p:sp>
        <p:nvSpPr>
          <p:cNvPr id="14" name="Shape 12"/>
          <p:cNvSpPr/>
          <p:nvPr/>
        </p:nvSpPr>
        <p:spPr>
          <a:xfrm>
            <a:off x="3877056" y="1097280"/>
            <a:ext cx="1389888" cy="2926080"/>
          </a:xfrm>
          <a:prstGeom prst="rect">
            <a:avLst/>
          </a:prstGeom>
          <a:solidFill>
            <a:srgbClr val="0D1B2A"/>
          </a:solidFill>
          <a:ln w="12700">
            <a:solidFill>
              <a:srgbClr val="0D1B2A"/>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3877056" y="1188720"/>
            <a:ext cx="138988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3877056" y="1600200"/>
            <a:ext cx="13898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 Model</a:t>
            </a:r>
            <a:endParaRPr lang="en-US" sz="1100" dirty="0"/>
          </a:p>
        </p:txBody>
      </p:sp>
      <p:sp>
        <p:nvSpPr>
          <p:cNvPr id="17" name="Text 15"/>
          <p:cNvSpPr/>
          <p:nvPr/>
        </p:nvSpPr>
        <p:spPr>
          <a:xfrm>
            <a:off x="3931920" y="2121408"/>
            <a:ext cx="1280160" cy="1783080"/>
          </a:xfrm>
          <a:prstGeom prst="rect">
            <a:avLst/>
          </a:prstGeom>
          <a:noFill/>
          <a:ln/>
        </p:spPr>
        <p:txBody>
          <a:bodyPr wrap="square" rtlCol="0" anchor="ctr"/>
          <a:lstStyle/>
          <a:p>
            <a:pPr algn="ctr" indent="0" marL="0">
              <a:buNone/>
            </a:pPr>
            <a:r>
              <a:rPr lang="en-US" sz="1000" dirty="0">
                <a:solidFill>
                  <a:srgbClr val="EAF4F2"/>
                </a:solidFill>
                <a:latin typeface="Calibri" pitchFamily="34" charset="0"/>
                <a:ea typeface="Calibri" pitchFamily="34" charset="-122"/>
                <a:cs typeface="Calibri" pitchFamily="34" charset="-120"/>
              </a:rPr>
              <a:t>Isolation Forest / LSTM flags statistical anomalies in real-time</a:t>
            </a:r>
            <a:endParaRPr lang="en-US" sz="1000" dirty="0"/>
          </a:p>
        </p:txBody>
      </p:sp>
      <p:sp>
        <p:nvSpPr>
          <p:cNvPr id="18" name="Shape 16"/>
          <p:cNvSpPr/>
          <p:nvPr/>
        </p:nvSpPr>
        <p:spPr>
          <a:xfrm>
            <a:off x="5266944" y="2560320"/>
            <a:ext cx="164592" cy="0"/>
          </a:xfrm>
          <a:prstGeom prst="line">
            <a:avLst/>
          </a:prstGeom>
          <a:noFill/>
          <a:ln w="19050">
            <a:solidFill>
              <a:srgbClr val="94A3B8"/>
            </a:solidFill>
            <a:prstDash val="solid"/>
          </a:ln>
        </p:spPr>
      </p:sp>
      <p:sp>
        <p:nvSpPr>
          <p:cNvPr id="19" name="Shape 17"/>
          <p:cNvSpPr/>
          <p:nvPr/>
        </p:nvSpPr>
        <p:spPr>
          <a:xfrm>
            <a:off x="5431536" y="1097280"/>
            <a:ext cx="1389888" cy="2926080"/>
          </a:xfrm>
          <a:prstGeom prst="rect">
            <a:avLst/>
          </a:prstGeom>
          <a:solidFill>
            <a:srgbClr val="00A896"/>
          </a:solidFill>
          <a:ln w="12700">
            <a:solidFill>
              <a:srgbClr val="00A896"/>
            </a:solidFill>
            <a:prstDash val="solid"/>
          </a:ln>
          <a:effectLst>
            <a:outerShdw sx="100000" sy="100000" kx="0" ky="0" algn="bl" rotWithShape="0" blurRad="63500" dist="25400" dir="8100000">
              <a:srgbClr val="000000">
                <a:alpha val="10000"/>
              </a:srgbClr>
            </a:outerShdw>
          </a:effectLst>
        </p:spPr>
      </p:sp>
      <p:sp>
        <p:nvSpPr>
          <p:cNvPr id="20" name="Text 18"/>
          <p:cNvSpPr/>
          <p:nvPr/>
        </p:nvSpPr>
        <p:spPr>
          <a:xfrm>
            <a:off x="5431536" y="1188720"/>
            <a:ext cx="138988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5431536" y="1600200"/>
            <a:ext cx="13898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Alert Triage</a:t>
            </a:r>
            <a:endParaRPr lang="en-US" sz="1100" dirty="0"/>
          </a:p>
        </p:txBody>
      </p:sp>
      <p:sp>
        <p:nvSpPr>
          <p:cNvPr id="22" name="Text 20"/>
          <p:cNvSpPr/>
          <p:nvPr/>
        </p:nvSpPr>
        <p:spPr>
          <a:xfrm>
            <a:off x="5486400" y="2121408"/>
            <a:ext cx="1280160" cy="1783080"/>
          </a:xfrm>
          <a:prstGeom prst="rect">
            <a:avLst/>
          </a:prstGeom>
          <a:noFill/>
          <a:ln/>
        </p:spPr>
        <p:txBody>
          <a:bodyPr wrap="square" rtlCol="0" anchor="ctr"/>
          <a:lstStyle/>
          <a:p>
            <a:pPr algn="ctr" indent="0" marL="0">
              <a:buNone/>
            </a:pPr>
            <a:r>
              <a:rPr lang="en-US" sz="1000" dirty="0">
                <a:solidFill>
                  <a:srgbClr val="0D1B2A"/>
                </a:solidFill>
                <a:latin typeface="Calibri" pitchFamily="34" charset="0"/>
                <a:ea typeface="Calibri" pitchFamily="34" charset="-122"/>
                <a:cs typeface="Calibri" pitchFamily="34" charset="-120"/>
              </a:rPr>
              <a:t>High-confidence alerts surface; false positives suppressed automatically</a:t>
            </a:r>
            <a:endParaRPr lang="en-US" sz="1000" dirty="0"/>
          </a:p>
        </p:txBody>
      </p:sp>
      <p:sp>
        <p:nvSpPr>
          <p:cNvPr id="23" name="Shape 21"/>
          <p:cNvSpPr/>
          <p:nvPr/>
        </p:nvSpPr>
        <p:spPr>
          <a:xfrm>
            <a:off x="6821424" y="2560320"/>
            <a:ext cx="164592" cy="0"/>
          </a:xfrm>
          <a:prstGeom prst="line">
            <a:avLst/>
          </a:prstGeom>
          <a:noFill/>
          <a:ln w="19050">
            <a:solidFill>
              <a:srgbClr val="94A3B8"/>
            </a:solidFill>
            <a:prstDash val="solid"/>
          </a:ln>
        </p:spPr>
      </p:sp>
      <p:sp>
        <p:nvSpPr>
          <p:cNvPr id="24" name="Shape 22"/>
          <p:cNvSpPr/>
          <p:nvPr/>
        </p:nvSpPr>
        <p:spPr>
          <a:xfrm>
            <a:off x="6986016" y="1097280"/>
            <a:ext cx="1389888" cy="2926080"/>
          </a:xfrm>
          <a:prstGeom prst="rect">
            <a:avLst/>
          </a:prstGeom>
          <a:solidFill>
            <a:srgbClr val="0D1B2A"/>
          </a:solidFill>
          <a:ln w="12700">
            <a:solidFill>
              <a:srgbClr val="0D1B2A"/>
            </a:solidFill>
            <a:prstDash val="solid"/>
          </a:ln>
          <a:effectLst>
            <a:outerShdw sx="100000" sy="100000" kx="0" ky="0" algn="bl" rotWithShape="0" blurRad="63500" dist="25400" dir="8100000">
              <a:srgbClr val="000000">
                <a:alpha val="10000"/>
              </a:srgbClr>
            </a:outerShdw>
          </a:effectLst>
        </p:spPr>
      </p:sp>
      <p:sp>
        <p:nvSpPr>
          <p:cNvPr id="25" name="Text 23"/>
          <p:cNvSpPr/>
          <p:nvPr/>
        </p:nvSpPr>
        <p:spPr>
          <a:xfrm>
            <a:off x="6986016" y="1188720"/>
            <a:ext cx="138988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Text 24"/>
          <p:cNvSpPr/>
          <p:nvPr/>
        </p:nvSpPr>
        <p:spPr>
          <a:xfrm>
            <a:off x="6986016" y="1600200"/>
            <a:ext cx="13898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Response (SOAR)</a:t>
            </a:r>
            <a:endParaRPr lang="en-US" sz="1100" dirty="0"/>
          </a:p>
        </p:txBody>
      </p:sp>
      <p:sp>
        <p:nvSpPr>
          <p:cNvPr id="27" name="Text 25"/>
          <p:cNvSpPr/>
          <p:nvPr/>
        </p:nvSpPr>
        <p:spPr>
          <a:xfrm>
            <a:off x="7040880" y="2121408"/>
            <a:ext cx="1280160" cy="1783080"/>
          </a:xfrm>
          <a:prstGeom prst="rect">
            <a:avLst/>
          </a:prstGeom>
          <a:noFill/>
          <a:ln/>
        </p:spPr>
        <p:txBody>
          <a:bodyPr wrap="square" rtlCol="0" anchor="ctr"/>
          <a:lstStyle/>
          <a:p>
            <a:pPr algn="ctr" indent="0" marL="0">
              <a:buNone/>
            </a:pPr>
            <a:r>
              <a:rPr lang="en-US" sz="1000" dirty="0">
                <a:solidFill>
                  <a:srgbClr val="EAF4F2"/>
                </a:solidFill>
                <a:latin typeface="Calibri" pitchFamily="34" charset="0"/>
                <a:ea typeface="Calibri" pitchFamily="34" charset="-122"/>
                <a:cs typeface="Calibri" pitchFamily="34" charset="-120"/>
              </a:rPr>
              <a:t>Playbook auto-isolates endpoint; analyst reviews and makes final call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2C39A"/>
          </a:solidFill>
          <a:ln w="12700">
            <a:solidFill>
              <a:srgbClr val="02C39A"/>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 Python in Action — Log Anomaly Detection</a:t>
            </a:r>
            <a:endParaRPr lang="en-US" sz="2200" dirty="0"/>
          </a:p>
        </p:txBody>
      </p:sp>
      <p:sp>
        <p:nvSpPr>
          <p:cNvPr id="4" name="Text 2"/>
          <p:cNvSpPr/>
          <p:nvPr/>
        </p:nvSpPr>
        <p:spPr>
          <a:xfrm>
            <a:off x="457200" y="749808"/>
            <a:ext cx="8229600" cy="438912"/>
          </a:xfrm>
          <a:prstGeom prst="rect">
            <a:avLst/>
          </a:prstGeom>
          <a:noFill/>
          <a:ln/>
        </p:spPr>
        <p:txBody>
          <a:bodyPr wrap="square" lIns="0" tIns="0" rIns="0" bIns="0" rtlCol="0" anchor="ctr"/>
          <a:lstStyle/>
          <a:p>
            <a:pPr algn="l" indent="0" marL="0">
              <a:buNone/>
            </a:pPr>
            <a:r>
              <a:rPr lang="en-US" sz="1300" dirty="0">
                <a:solidFill>
                  <a:srgbClr val="02C39A"/>
                </a:solidFill>
                <a:latin typeface="Calibri" pitchFamily="34" charset="0"/>
                <a:ea typeface="Calibri" pitchFamily="34" charset="-122"/>
                <a:cs typeface="Calibri" pitchFamily="34" charset="-120"/>
              </a:rPr>
              <a:t>Isolation Forest finds statistical outliers in login data. This is exactly how enterprise SIEM tools detect unauthorized access.</a:t>
            </a:r>
            <a:endParaRPr lang="en-US" sz="1300" dirty="0"/>
          </a:p>
        </p:txBody>
      </p:sp>
      <p:sp>
        <p:nvSpPr>
          <p:cNvPr id="5" name="Shape 3"/>
          <p:cNvSpPr/>
          <p:nvPr/>
        </p:nvSpPr>
        <p:spPr>
          <a:xfrm>
            <a:off x="365760" y="1261872"/>
            <a:ext cx="8412480" cy="3108960"/>
          </a:xfrm>
          <a:prstGeom prst="rect">
            <a:avLst/>
          </a:prstGeom>
          <a:solidFill>
            <a:srgbClr val="1A2535"/>
          </a:solidFill>
          <a:ln w="12700">
            <a:solidFill>
              <a:srgbClr val="2A3A50"/>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594360" y="1389888"/>
            <a:ext cx="7955280" cy="2834640"/>
          </a:xfrm>
          <a:prstGeom prst="rect">
            <a:avLst/>
          </a:prstGeom>
          <a:noFill/>
          <a:ln/>
        </p:spPr>
        <p:txBody>
          <a:bodyPr wrap="square" lIns="0" tIns="0" rIns="0" bIns="0" rtlCol="0" anchor="ctr"/>
          <a:lstStyle/>
          <a:p>
            <a:pPr indent="0" marL="0">
              <a:buNone/>
            </a:pPr>
            <a:r>
              <a:rPr lang="en-US" sz="1200" dirty="0">
                <a:solidFill>
                  <a:srgbClr val="FFD166"/>
                </a:solidFill>
                <a:latin typeface="Courier New" pitchFamily="34" charset="0"/>
                <a:ea typeface="Courier New" pitchFamily="34" charset="-122"/>
                <a:cs typeface="Courier New" pitchFamily="34" charset="-120"/>
              </a:rPr>
              <a:t>import pandas as pd</a:t>
            </a: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from sklearn.ensemble import IsolationForest</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Simulated login log data</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logs = pd.DataFrame({</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'user':            ['alice', 'alice', 'bob',  'alice'],</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'login_hour':      [9,       2,       14,     3     ],  # 2am, 3am suspicious</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'failed_attempts': [0,       7,       1,      5     ],</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'country_code':    [0,       1,       0,      1     ],  # 1 = foreign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X = logs[['login_hour', 'failed_attempts', 'country_code']]</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model = IsolationForest(contamination=0.25, random_state=42)</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logs['anomaly'] = model.fit_predict(X)</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-1 = anomaly (suspicious), 1 = normal</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print(logs[logs['anomaly'] == -1][['user','login_hour']])</a:t>
            </a:r>
            <a:endParaRPr lang="en-US" sz="1200" dirty="0"/>
          </a:p>
        </p:txBody>
      </p:sp>
      <p:sp>
        <p:nvSpPr>
          <p:cNvPr id="7" name="Text 5"/>
          <p:cNvSpPr/>
          <p:nvPr/>
        </p:nvSpPr>
        <p:spPr>
          <a:xfrm>
            <a:off x="457200" y="4498848"/>
            <a:ext cx="8229600" cy="347472"/>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Libraries: pandas, sklearn. Concepts: DataFrames, ML model fit/predict, boolean filtering. Year 2-3 level — production security use.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2C39A"/>
          </a:solidFill>
          <a:ln w="12700">
            <a:solidFill>
              <a:srgbClr val="02C39A"/>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 Python in Action — DNS Entropy (C2 Detection)</a:t>
            </a:r>
            <a:endParaRPr lang="en-US" sz="2200" dirty="0"/>
          </a:p>
        </p:txBody>
      </p:sp>
      <p:sp>
        <p:nvSpPr>
          <p:cNvPr id="4" name="Text 2"/>
          <p:cNvSpPr/>
          <p:nvPr/>
        </p:nvSpPr>
        <p:spPr>
          <a:xfrm>
            <a:off x="457200" y="749808"/>
            <a:ext cx="8229600" cy="438912"/>
          </a:xfrm>
          <a:prstGeom prst="rect">
            <a:avLst/>
          </a:prstGeom>
          <a:noFill/>
          <a:ln/>
        </p:spPr>
        <p:txBody>
          <a:bodyPr wrap="square" lIns="0" tIns="0" rIns="0" bIns="0" rtlCol="0" anchor="ctr"/>
          <a:lstStyle/>
          <a:p>
            <a:pPr algn="l" indent="0" marL="0">
              <a:buNone/>
            </a:pPr>
            <a:r>
              <a:rPr lang="en-US" sz="1300" dirty="0">
                <a:solidFill>
                  <a:srgbClr val="02C39A"/>
                </a:solidFill>
                <a:latin typeface="Calibri" pitchFamily="34" charset="0"/>
                <a:ea typeface="Calibri" pitchFamily="34" charset="-122"/>
                <a:cs typeface="Calibri" pitchFamily="34" charset="-120"/>
              </a:rPr>
              <a:t>Malware uses Domain Generation Algorithms (DGA) to contact command servers. DGA domains look random — high entropy. Normal domains are readable — low entropy.</a:t>
            </a:r>
            <a:endParaRPr lang="en-US" sz="1300" dirty="0"/>
          </a:p>
        </p:txBody>
      </p:sp>
      <p:sp>
        <p:nvSpPr>
          <p:cNvPr id="5" name="Shape 3"/>
          <p:cNvSpPr/>
          <p:nvPr/>
        </p:nvSpPr>
        <p:spPr>
          <a:xfrm>
            <a:off x="365760" y="1261872"/>
            <a:ext cx="8412480" cy="3108960"/>
          </a:xfrm>
          <a:prstGeom prst="rect">
            <a:avLst/>
          </a:prstGeom>
          <a:solidFill>
            <a:srgbClr val="1A2535"/>
          </a:solidFill>
          <a:ln w="12700">
            <a:solidFill>
              <a:srgbClr val="2A3A50"/>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594360" y="1389888"/>
            <a:ext cx="7955280" cy="2834640"/>
          </a:xfrm>
          <a:prstGeom prst="rect">
            <a:avLst/>
          </a:prstGeom>
          <a:noFill/>
          <a:ln/>
        </p:spPr>
        <p:txBody>
          <a:bodyPr wrap="square" lIns="0" tIns="0" rIns="0" bIns="0" rtlCol="0" anchor="ctr"/>
          <a:lstStyle/>
          <a:p>
            <a:pPr indent="0" marL="0">
              <a:buNone/>
            </a:pPr>
            <a:r>
              <a:rPr lang="en-US" sz="1200" dirty="0">
                <a:solidFill>
                  <a:srgbClr val="FFD166"/>
                </a:solidFill>
                <a:latin typeface="Courier New" pitchFamily="34" charset="0"/>
                <a:ea typeface="Courier New" pitchFamily="34" charset="-122"/>
                <a:cs typeface="Courier New" pitchFamily="34" charset="-120"/>
              </a:rPr>
              <a:t>import math</a:t>
            </a: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from collections import Counter</a:t>
            </a:r>
            <a:endParaRPr lang="en-US" sz="1200" dirty="0"/>
          </a:p>
          <a:p>
            <a:pPr indent="0" marL="0">
              <a:buNone/>
            </a:pPr>
            <a:endParaRPr lang="en-US" sz="1200" dirty="0"/>
          </a:p>
          <a:p>
            <a:pPr indent="0" marL="0">
              <a:buNone/>
            </a:pPr>
            <a:r>
              <a:rPr lang="en-US" sz="1200" dirty="0">
                <a:solidFill>
                  <a:srgbClr val="FFD166"/>
                </a:solidFill>
                <a:latin typeface="Courier New" pitchFamily="34" charset="0"/>
                <a:ea typeface="Courier New" pitchFamily="34" charset="-122"/>
                <a:cs typeface="Courier New" pitchFamily="34" charset="-120"/>
              </a:rPr>
              <a:t>def entropy(domain):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"""Shannon entropy — measures randomness of a string"""</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counts = Counter(domain)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total  = len(domain)</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return -sum((c / total) * math.log2(c / total)</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               for c in counts.values())</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Test it</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print(f'google.com      → {entropy("google"):.2f}')     # ~2.25 — readable</a:t>
            </a:r>
            <a:endParaRPr lang="en-US" sz="1200" dirty="0"/>
          </a:p>
          <a:p>
            <a:pPr indent="0" marL="0">
              <a:buNone/>
            </a:pPr>
            <a:r>
              <a:rPr lang="en-US" sz="1200" dirty="0">
                <a:solidFill>
                  <a:srgbClr val="A8FF78"/>
                </a:solidFill>
                <a:latin typeface="Courier New" pitchFamily="34" charset="0"/>
                <a:ea typeface="Courier New" pitchFamily="34" charset="-122"/>
                <a:cs typeface="Courier New" pitchFamily="34" charset="-120"/>
              </a:rPr>
              <a:t>print(f'xkf72nqpalbc.com→ {entropy("xkf72nqpalbc"):.2f}') # ~3.58 — suspicious</a:t>
            </a:r>
            <a:endParaRPr lang="en-US" sz="1200" dirty="0"/>
          </a:p>
          <a:p>
            <a:pPr indent="0" marL="0">
              <a:buNone/>
            </a:pPr>
            <a:endParaRPr lang="en-US" sz="1200" dirty="0"/>
          </a:p>
          <a:p>
            <a:pPr indent="0" marL="0">
              <a:buNone/>
            </a:pPr>
            <a:r>
              <a:rPr lang="en-US" sz="1200" dirty="0">
                <a:solidFill>
                  <a:srgbClr val="6A9FB5"/>
                </a:solidFill>
                <a:latin typeface="Courier New" pitchFamily="34" charset="0"/>
                <a:ea typeface="Courier New" pitchFamily="34" charset="-122"/>
                <a:cs typeface="Courier New" pitchFamily="34" charset="-120"/>
              </a:rPr>
              <a:t># Real threshold used in production: entropy &gt; 3.5 → flag for review</a:t>
            </a:r>
            <a:endParaRPr lang="en-US" sz="1200" dirty="0"/>
          </a:p>
        </p:txBody>
      </p:sp>
      <p:sp>
        <p:nvSpPr>
          <p:cNvPr id="7" name="Text 5"/>
          <p:cNvSpPr/>
          <p:nvPr/>
        </p:nvSpPr>
        <p:spPr>
          <a:xfrm>
            <a:off x="457200" y="4498848"/>
            <a:ext cx="8229600" cy="347472"/>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Python concepts: functions, Counter, math.log2, f-strings, generator expression. Shannon entropy = information theory meets security.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05 | MITRE ATT&amp;CK — Mapping Every Known Attack</a:t>
            </a:r>
            <a:endParaRPr lang="en-US" sz="2600" dirty="0"/>
          </a:p>
        </p:txBody>
      </p:sp>
      <p:sp>
        <p:nvSpPr>
          <p:cNvPr id="4" name="Text 2"/>
          <p:cNvSpPr/>
          <p:nvPr/>
        </p:nvSpPr>
        <p:spPr>
          <a:xfrm>
            <a:off x="457200" y="1005840"/>
            <a:ext cx="8229600" cy="3840480"/>
          </a:xfrm>
          <a:prstGeom prst="rect">
            <a:avLst/>
          </a:prstGeom>
          <a:noFill/>
          <a:ln/>
        </p:spPr>
        <p:txBody>
          <a:bodyPr wrap="square" rtlCol="0" anchor="ctr"/>
          <a:lstStyle/>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Built by MITRE (US non-profit) from real-world attack observations — not theoretical</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Structure: 14 Tactics (the 'why') → 400+ Techniques (the 'how') → Sub-techniques (the specifics)</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14 Tactics: Reconnaissance → Initial Access → Execution → Persistence → Privilege Escalation → Defense Evasion → Credential Access → Discovery → Lateral Movement → Collection → C2 → Exfiltration → Impact</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Example: T1566.001 = Spearphishing Attachment (Tactic: Initial Access) — every phishing email maps here</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Defenders use it to find gaps: 'Which techniques do I have detection rules for? Where am I blind?'</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Python: mitreattack-python library lets you programmatically query the entire framework — build your own gap analyzer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07 | Adversarial ML — When AI Attacks AI</a:t>
            </a:r>
            <a:endParaRPr lang="en-US" sz="2600" dirty="0"/>
          </a:p>
        </p:txBody>
      </p:sp>
      <p:sp>
        <p:nvSpPr>
          <p:cNvPr id="4" name="Shape 2"/>
          <p:cNvSpPr/>
          <p:nvPr/>
        </p:nvSpPr>
        <p:spPr>
          <a:xfrm>
            <a:off x="274320" y="960120"/>
            <a:ext cx="4069080" cy="3840480"/>
          </a:xfrm>
          <a:prstGeom prst="rect">
            <a:avLst/>
          </a:prstGeom>
          <a:solidFill>
            <a:srgbClr val="EAF4F2"/>
          </a:solidFill>
          <a:ln w="10160">
            <a:solidFill>
              <a:srgbClr val="CCECEC"/>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74320" y="960120"/>
            <a:ext cx="4069080" cy="384048"/>
          </a:xfrm>
          <a:prstGeom prst="rect">
            <a:avLst/>
          </a:prstGeom>
          <a:solidFill>
            <a:srgbClr val="0D1B2A"/>
          </a:solidFill>
          <a:ln w="12700">
            <a:solidFill>
              <a:srgbClr val="0D1B2A"/>
            </a:solidFill>
            <a:prstDash val="solid"/>
          </a:ln>
        </p:spPr>
      </p:sp>
      <p:sp>
        <p:nvSpPr>
          <p:cNvPr id="6" name="Text 4"/>
          <p:cNvSpPr/>
          <p:nvPr/>
        </p:nvSpPr>
        <p:spPr>
          <a:xfrm>
            <a:off x="411480" y="1005840"/>
            <a:ext cx="37490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Four Attack Types</a:t>
            </a:r>
            <a:endParaRPr lang="en-US" sz="1300" dirty="0"/>
          </a:p>
        </p:txBody>
      </p:sp>
      <p:sp>
        <p:nvSpPr>
          <p:cNvPr id="7" name="Text 5"/>
          <p:cNvSpPr/>
          <p:nvPr/>
        </p:nvSpPr>
        <p:spPr>
          <a:xfrm>
            <a:off x="411480" y="1417320"/>
            <a:ext cx="3794760" cy="32461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Evasion: Slightly modify malware bytes so ML classifier misses it — function intact, signature changed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Poisoning: Inject malicious training data to corrupt model's future decisions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Model Extraction: Query model repeatedly → reverse-engineer its decision logic offline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Inference: Probe model to extract private training data (privacy breach)</a:t>
            </a:r>
            <a:endParaRPr lang="en-US" sz="1300" dirty="0"/>
          </a:p>
        </p:txBody>
      </p:sp>
      <p:sp>
        <p:nvSpPr>
          <p:cNvPr id="8" name="Shape 6"/>
          <p:cNvSpPr/>
          <p:nvPr/>
        </p:nvSpPr>
        <p:spPr>
          <a:xfrm>
            <a:off x="4754880" y="960120"/>
            <a:ext cx="4069080" cy="3840480"/>
          </a:xfrm>
          <a:prstGeom prst="rect">
            <a:avLst/>
          </a:prstGeom>
          <a:solidFill>
            <a:srgbClr val="EAF4F2"/>
          </a:solidFill>
          <a:ln w="10160">
            <a:solidFill>
              <a:srgbClr val="CCECEC"/>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754880" y="960120"/>
            <a:ext cx="4069080" cy="384048"/>
          </a:xfrm>
          <a:prstGeom prst="rect">
            <a:avLst/>
          </a:prstGeom>
          <a:solidFill>
            <a:srgbClr val="00A896"/>
          </a:solidFill>
          <a:ln w="12700">
            <a:solidFill>
              <a:srgbClr val="00A896"/>
            </a:solidFill>
            <a:prstDash val="solid"/>
          </a:ln>
        </p:spPr>
      </p:sp>
      <p:sp>
        <p:nvSpPr>
          <p:cNvPr id="10" name="Text 8"/>
          <p:cNvSpPr/>
          <p:nvPr/>
        </p:nvSpPr>
        <p:spPr>
          <a:xfrm>
            <a:off x="4892040" y="1005840"/>
            <a:ext cx="37490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Four Defenses</a:t>
            </a:r>
            <a:endParaRPr lang="en-US" sz="1300" dirty="0"/>
          </a:p>
        </p:txBody>
      </p:sp>
      <p:sp>
        <p:nvSpPr>
          <p:cNvPr id="11" name="Text 9"/>
          <p:cNvSpPr/>
          <p:nvPr/>
        </p:nvSpPr>
        <p:spPr>
          <a:xfrm>
            <a:off x="4892040" y="1417320"/>
            <a:ext cx="3794760" cy="32461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Adversarial Training: Include adversarial examples in training — model learns to resist them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Ensemble Models: Harder to fool 5 different classifiers simultaneously than 1</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Input Validation: Sanitize and bound-check all inputs before inference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Differential Privacy: Mathematically limit what the model memorizes from training data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0D1B2A"/>
                </a:solidFill>
                <a:latin typeface="Calibri" pitchFamily="34" charset="0"/>
                <a:ea typeface="Calibri" pitchFamily="34" charset="-122"/>
                <a:cs typeface="Calibri" pitchFamily="34" charset="-120"/>
              </a:rPr>
              <a:t>06 | APT Bank Attack — Stage by Stage</a:t>
            </a:r>
            <a:endParaRPr lang="en-US" sz="2400" dirty="0"/>
          </a:p>
        </p:txBody>
      </p:sp>
      <p:sp>
        <p:nvSpPr>
          <p:cNvPr id="4" name="Shape 2"/>
          <p:cNvSpPr/>
          <p:nvPr/>
        </p:nvSpPr>
        <p:spPr>
          <a:xfrm>
            <a:off x="320040" y="914400"/>
            <a:ext cx="1188720" cy="566928"/>
          </a:xfrm>
          <a:prstGeom prst="rect">
            <a:avLst/>
          </a:prstGeom>
          <a:solidFill>
            <a:srgbClr val="0D1B2A"/>
          </a:solidFill>
          <a:ln w="3810">
            <a:solidFill>
              <a:srgbClr val="CCCCCC"/>
            </a:solidFill>
            <a:prstDash val="solid"/>
          </a:ln>
        </p:spPr>
      </p:sp>
      <p:sp>
        <p:nvSpPr>
          <p:cNvPr id="5" name="Text 3"/>
          <p:cNvSpPr/>
          <p:nvPr/>
        </p:nvSpPr>
        <p:spPr>
          <a:xfrm>
            <a:off x="374904" y="960120"/>
            <a:ext cx="109728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p>
        </p:txBody>
      </p:sp>
      <p:sp>
        <p:nvSpPr>
          <p:cNvPr id="6" name="Shape 4"/>
          <p:cNvSpPr/>
          <p:nvPr/>
        </p:nvSpPr>
        <p:spPr>
          <a:xfrm>
            <a:off x="1508760" y="914400"/>
            <a:ext cx="2240280" cy="566928"/>
          </a:xfrm>
          <a:prstGeom prst="rect">
            <a:avLst/>
          </a:prstGeom>
          <a:solidFill>
            <a:srgbClr val="0D1B2A"/>
          </a:solidFill>
          <a:ln w="3810">
            <a:solidFill>
              <a:srgbClr val="CCCCCC"/>
            </a:solidFill>
            <a:prstDash val="solid"/>
          </a:ln>
        </p:spPr>
      </p:sp>
      <p:sp>
        <p:nvSpPr>
          <p:cNvPr id="7" name="Text 5"/>
          <p:cNvSpPr/>
          <p:nvPr/>
        </p:nvSpPr>
        <p:spPr>
          <a:xfrm>
            <a:off x="1563624" y="960120"/>
            <a:ext cx="214884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Happened</a:t>
            </a:r>
            <a:endParaRPr lang="en-US" sz="1100" dirty="0"/>
          </a:p>
        </p:txBody>
      </p:sp>
      <p:sp>
        <p:nvSpPr>
          <p:cNvPr id="8" name="Shape 6"/>
          <p:cNvSpPr/>
          <p:nvPr/>
        </p:nvSpPr>
        <p:spPr>
          <a:xfrm>
            <a:off x="3749040" y="914400"/>
            <a:ext cx="2240280" cy="566928"/>
          </a:xfrm>
          <a:prstGeom prst="rect">
            <a:avLst/>
          </a:prstGeom>
          <a:solidFill>
            <a:srgbClr val="0D1B2A"/>
          </a:solidFill>
          <a:ln w="3810">
            <a:solidFill>
              <a:srgbClr val="CCCCCC"/>
            </a:solidFill>
            <a:prstDash val="solid"/>
          </a:ln>
        </p:spPr>
      </p:sp>
      <p:sp>
        <p:nvSpPr>
          <p:cNvPr id="9" name="Text 7"/>
          <p:cNvSpPr/>
          <p:nvPr/>
        </p:nvSpPr>
        <p:spPr>
          <a:xfrm>
            <a:off x="3803904" y="960120"/>
            <a:ext cx="214884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Detection Opportunity</a:t>
            </a:r>
            <a:endParaRPr lang="en-US" sz="1100" dirty="0"/>
          </a:p>
        </p:txBody>
      </p:sp>
      <p:sp>
        <p:nvSpPr>
          <p:cNvPr id="10" name="Shape 8"/>
          <p:cNvSpPr/>
          <p:nvPr/>
        </p:nvSpPr>
        <p:spPr>
          <a:xfrm>
            <a:off x="5989320" y="914400"/>
            <a:ext cx="2240280" cy="566928"/>
          </a:xfrm>
          <a:prstGeom prst="rect">
            <a:avLst/>
          </a:prstGeom>
          <a:solidFill>
            <a:srgbClr val="0D1B2A"/>
          </a:solidFill>
          <a:ln w="3810">
            <a:solidFill>
              <a:srgbClr val="CCCCCC"/>
            </a:solidFill>
            <a:prstDash val="solid"/>
          </a:ln>
        </p:spPr>
      </p:sp>
      <p:sp>
        <p:nvSpPr>
          <p:cNvPr id="11" name="Text 9"/>
          <p:cNvSpPr/>
          <p:nvPr/>
        </p:nvSpPr>
        <p:spPr>
          <a:xfrm>
            <a:off x="6044184" y="960120"/>
            <a:ext cx="214884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Python Tool</a:t>
            </a:r>
            <a:endParaRPr lang="en-US" sz="1100" dirty="0"/>
          </a:p>
        </p:txBody>
      </p:sp>
      <p:sp>
        <p:nvSpPr>
          <p:cNvPr id="12" name="Shape 10"/>
          <p:cNvSpPr/>
          <p:nvPr/>
        </p:nvSpPr>
        <p:spPr>
          <a:xfrm>
            <a:off x="320040" y="1481328"/>
            <a:ext cx="1188720" cy="566928"/>
          </a:xfrm>
          <a:prstGeom prst="rect">
            <a:avLst/>
          </a:prstGeom>
          <a:solidFill>
            <a:srgbClr val="FFFFFF"/>
          </a:solidFill>
          <a:ln w="3810">
            <a:solidFill>
              <a:srgbClr val="CCCCCC"/>
            </a:solidFill>
            <a:prstDash val="solid"/>
          </a:ln>
        </p:spPr>
      </p:sp>
      <p:sp>
        <p:nvSpPr>
          <p:cNvPr id="13" name="Text 11"/>
          <p:cNvSpPr/>
          <p:nvPr/>
        </p:nvSpPr>
        <p:spPr>
          <a:xfrm>
            <a:off x="374904" y="1527048"/>
            <a:ext cx="1097280" cy="475488"/>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1 Recon</a:t>
            </a:r>
            <a:endParaRPr lang="en-US" sz="1000" dirty="0"/>
          </a:p>
        </p:txBody>
      </p:sp>
      <p:sp>
        <p:nvSpPr>
          <p:cNvPr id="14" name="Shape 12"/>
          <p:cNvSpPr/>
          <p:nvPr/>
        </p:nvSpPr>
        <p:spPr>
          <a:xfrm>
            <a:off x="1508760" y="1481328"/>
            <a:ext cx="2240280" cy="566928"/>
          </a:xfrm>
          <a:prstGeom prst="rect">
            <a:avLst/>
          </a:prstGeom>
          <a:solidFill>
            <a:srgbClr val="FFFFFF"/>
          </a:solidFill>
          <a:ln w="3810">
            <a:solidFill>
              <a:srgbClr val="CCCCCC"/>
            </a:solidFill>
            <a:prstDash val="solid"/>
          </a:ln>
        </p:spPr>
      </p:sp>
      <p:sp>
        <p:nvSpPr>
          <p:cNvPr id="15" name="Text 13"/>
          <p:cNvSpPr/>
          <p:nvPr/>
        </p:nvSpPr>
        <p:spPr>
          <a:xfrm>
            <a:off x="1563624" y="1527048"/>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LinkedIn/job posts scraped</a:t>
            </a:r>
            <a:endParaRPr lang="en-US" sz="1000" dirty="0"/>
          </a:p>
        </p:txBody>
      </p:sp>
      <p:sp>
        <p:nvSpPr>
          <p:cNvPr id="16" name="Shape 14"/>
          <p:cNvSpPr/>
          <p:nvPr/>
        </p:nvSpPr>
        <p:spPr>
          <a:xfrm>
            <a:off x="3749040" y="1481328"/>
            <a:ext cx="2240280" cy="566928"/>
          </a:xfrm>
          <a:prstGeom prst="rect">
            <a:avLst/>
          </a:prstGeom>
          <a:solidFill>
            <a:srgbClr val="FFFFFF"/>
          </a:solidFill>
          <a:ln w="3810">
            <a:solidFill>
              <a:srgbClr val="CCCCCC"/>
            </a:solidFill>
            <a:prstDash val="solid"/>
          </a:ln>
        </p:spPr>
      </p:sp>
      <p:sp>
        <p:nvSpPr>
          <p:cNvPr id="17" name="Text 15"/>
          <p:cNvSpPr/>
          <p:nvPr/>
        </p:nvSpPr>
        <p:spPr>
          <a:xfrm>
            <a:off x="3803904" y="1527048"/>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OSINT monitoring</a:t>
            </a:r>
            <a:endParaRPr lang="en-US" sz="1000" dirty="0"/>
          </a:p>
        </p:txBody>
      </p:sp>
      <p:sp>
        <p:nvSpPr>
          <p:cNvPr id="18" name="Shape 16"/>
          <p:cNvSpPr/>
          <p:nvPr/>
        </p:nvSpPr>
        <p:spPr>
          <a:xfrm>
            <a:off x="5989320" y="1481328"/>
            <a:ext cx="2240280" cy="566928"/>
          </a:xfrm>
          <a:prstGeom prst="rect">
            <a:avLst/>
          </a:prstGeom>
          <a:solidFill>
            <a:srgbClr val="FFFFFF"/>
          </a:solidFill>
          <a:ln w="3810">
            <a:solidFill>
              <a:srgbClr val="CCCCCC"/>
            </a:solidFill>
            <a:prstDash val="solid"/>
          </a:ln>
        </p:spPr>
      </p:sp>
      <p:sp>
        <p:nvSpPr>
          <p:cNvPr id="19" name="Text 17"/>
          <p:cNvSpPr/>
          <p:nvPr/>
        </p:nvSpPr>
        <p:spPr>
          <a:xfrm>
            <a:off x="6044184" y="1527048"/>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requests + BeautifulSoup</a:t>
            </a:r>
            <a:endParaRPr lang="en-US" sz="1000" dirty="0"/>
          </a:p>
        </p:txBody>
      </p:sp>
      <p:sp>
        <p:nvSpPr>
          <p:cNvPr id="20" name="Shape 18"/>
          <p:cNvSpPr/>
          <p:nvPr/>
        </p:nvSpPr>
        <p:spPr>
          <a:xfrm>
            <a:off x="320040" y="2048256"/>
            <a:ext cx="1188720" cy="566928"/>
          </a:xfrm>
          <a:prstGeom prst="rect">
            <a:avLst/>
          </a:prstGeom>
          <a:solidFill>
            <a:srgbClr val="EAF4F2"/>
          </a:solidFill>
          <a:ln w="3810">
            <a:solidFill>
              <a:srgbClr val="CCCCCC"/>
            </a:solidFill>
            <a:prstDash val="solid"/>
          </a:ln>
        </p:spPr>
      </p:sp>
      <p:sp>
        <p:nvSpPr>
          <p:cNvPr id="21" name="Text 19"/>
          <p:cNvSpPr/>
          <p:nvPr/>
        </p:nvSpPr>
        <p:spPr>
          <a:xfrm>
            <a:off x="374904" y="2093976"/>
            <a:ext cx="1097280" cy="475488"/>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2 Initial Access</a:t>
            </a:r>
            <a:endParaRPr lang="en-US" sz="1000" dirty="0"/>
          </a:p>
        </p:txBody>
      </p:sp>
      <p:sp>
        <p:nvSpPr>
          <p:cNvPr id="22" name="Shape 20"/>
          <p:cNvSpPr/>
          <p:nvPr/>
        </p:nvSpPr>
        <p:spPr>
          <a:xfrm>
            <a:off x="1508760" y="2048256"/>
            <a:ext cx="2240280" cy="566928"/>
          </a:xfrm>
          <a:prstGeom prst="rect">
            <a:avLst/>
          </a:prstGeom>
          <a:solidFill>
            <a:srgbClr val="EAF4F2"/>
          </a:solidFill>
          <a:ln w="3810">
            <a:solidFill>
              <a:srgbClr val="CCCCCC"/>
            </a:solidFill>
            <a:prstDash val="solid"/>
          </a:ln>
        </p:spPr>
      </p:sp>
      <p:sp>
        <p:nvSpPr>
          <p:cNvPr id="23" name="Text 21"/>
          <p:cNvSpPr/>
          <p:nvPr/>
        </p:nvSpPr>
        <p:spPr>
          <a:xfrm>
            <a:off x="1563624" y="2093976"/>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Malicious Word macro email</a:t>
            </a:r>
            <a:endParaRPr lang="en-US" sz="1000" dirty="0"/>
          </a:p>
        </p:txBody>
      </p:sp>
      <p:sp>
        <p:nvSpPr>
          <p:cNvPr id="24" name="Shape 22"/>
          <p:cNvSpPr/>
          <p:nvPr/>
        </p:nvSpPr>
        <p:spPr>
          <a:xfrm>
            <a:off x="3749040" y="2048256"/>
            <a:ext cx="2240280" cy="566928"/>
          </a:xfrm>
          <a:prstGeom prst="rect">
            <a:avLst/>
          </a:prstGeom>
          <a:solidFill>
            <a:srgbClr val="EAF4F2"/>
          </a:solidFill>
          <a:ln w="3810">
            <a:solidFill>
              <a:srgbClr val="CCCCCC"/>
            </a:solidFill>
            <a:prstDash val="solid"/>
          </a:ln>
        </p:spPr>
      </p:sp>
      <p:sp>
        <p:nvSpPr>
          <p:cNvPr id="25" name="Text 23"/>
          <p:cNvSpPr/>
          <p:nvPr/>
        </p:nvSpPr>
        <p:spPr>
          <a:xfrm>
            <a:off x="3803904" y="2093976"/>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Email sandbox analysis</a:t>
            </a:r>
            <a:endParaRPr lang="en-US" sz="1000" dirty="0"/>
          </a:p>
        </p:txBody>
      </p:sp>
      <p:sp>
        <p:nvSpPr>
          <p:cNvPr id="26" name="Shape 24"/>
          <p:cNvSpPr/>
          <p:nvPr/>
        </p:nvSpPr>
        <p:spPr>
          <a:xfrm>
            <a:off x="5989320" y="2048256"/>
            <a:ext cx="2240280" cy="566928"/>
          </a:xfrm>
          <a:prstGeom prst="rect">
            <a:avLst/>
          </a:prstGeom>
          <a:solidFill>
            <a:srgbClr val="EAF4F2"/>
          </a:solidFill>
          <a:ln w="3810">
            <a:solidFill>
              <a:srgbClr val="CCCCCC"/>
            </a:solidFill>
            <a:prstDash val="solid"/>
          </a:ln>
        </p:spPr>
      </p:sp>
      <p:sp>
        <p:nvSpPr>
          <p:cNvPr id="27" name="Text 25"/>
          <p:cNvSpPr/>
          <p:nvPr/>
        </p:nvSpPr>
        <p:spPr>
          <a:xfrm>
            <a:off x="6044184" y="2093976"/>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oletools, pdfminer</a:t>
            </a:r>
            <a:endParaRPr lang="en-US" sz="1000" dirty="0"/>
          </a:p>
        </p:txBody>
      </p:sp>
      <p:sp>
        <p:nvSpPr>
          <p:cNvPr id="28" name="Shape 26"/>
          <p:cNvSpPr/>
          <p:nvPr/>
        </p:nvSpPr>
        <p:spPr>
          <a:xfrm>
            <a:off x="320040" y="2615184"/>
            <a:ext cx="1188720" cy="566928"/>
          </a:xfrm>
          <a:prstGeom prst="rect">
            <a:avLst/>
          </a:prstGeom>
          <a:solidFill>
            <a:srgbClr val="FFFFFF"/>
          </a:solidFill>
          <a:ln w="3810">
            <a:solidFill>
              <a:srgbClr val="CCCCCC"/>
            </a:solidFill>
            <a:prstDash val="solid"/>
          </a:ln>
        </p:spPr>
      </p:sp>
      <p:sp>
        <p:nvSpPr>
          <p:cNvPr id="29" name="Text 27"/>
          <p:cNvSpPr/>
          <p:nvPr/>
        </p:nvSpPr>
        <p:spPr>
          <a:xfrm>
            <a:off x="374904" y="2660904"/>
            <a:ext cx="1097280" cy="475488"/>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3 Execution</a:t>
            </a:r>
            <a:endParaRPr lang="en-US" sz="1000" dirty="0"/>
          </a:p>
        </p:txBody>
      </p:sp>
      <p:sp>
        <p:nvSpPr>
          <p:cNvPr id="30" name="Shape 28"/>
          <p:cNvSpPr/>
          <p:nvPr/>
        </p:nvSpPr>
        <p:spPr>
          <a:xfrm>
            <a:off x="1508760" y="2615184"/>
            <a:ext cx="2240280" cy="566928"/>
          </a:xfrm>
          <a:prstGeom prst="rect">
            <a:avLst/>
          </a:prstGeom>
          <a:solidFill>
            <a:srgbClr val="FFFFFF"/>
          </a:solidFill>
          <a:ln w="3810">
            <a:solidFill>
              <a:srgbClr val="CCCCCC"/>
            </a:solidFill>
            <a:prstDash val="solid"/>
          </a:ln>
        </p:spPr>
      </p:sp>
      <p:sp>
        <p:nvSpPr>
          <p:cNvPr id="31" name="Text 29"/>
          <p:cNvSpPr/>
          <p:nvPr/>
        </p:nvSpPr>
        <p:spPr>
          <a:xfrm>
            <a:off x="1563624" y="2660904"/>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Fileless PowerShell payload</a:t>
            </a:r>
            <a:endParaRPr lang="en-US" sz="1000" dirty="0"/>
          </a:p>
        </p:txBody>
      </p:sp>
      <p:sp>
        <p:nvSpPr>
          <p:cNvPr id="32" name="Shape 30"/>
          <p:cNvSpPr/>
          <p:nvPr/>
        </p:nvSpPr>
        <p:spPr>
          <a:xfrm>
            <a:off x="3749040" y="2615184"/>
            <a:ext cx="2240280" cy="566928"/>
          </a:xfrm>
          <a:prstGeom prst="rect">
            <a:avLst/>
          </a:prstGeom>
          <a:solidFill>
            <a:srgbClr val="FFFFFF"/>
          </a:solidFill>
          <a:ln w="3810">
            <a:solidFill>
              <a:srgbClr val="CCCCCC"/>
            </a:solidFill>
            <a:prstDash val="solid"/>
          </a:ln>
        </p:spPr>
      </p:sp>
      <p:sp>
        <p:nvSpPr>
          <p:cNvPr id="33" name="Text 31"/>
          <p:cNvSpPr/>
          <p:nvPr/>
        </p:nvSpPr>
        <p:spPr>
          <a:xfrm>
            <a:off x="3803904" y="2660904"/>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Sysmon + process monitoring</a:t>
            </a:r>
            <a:endParaRPr lang="en-US" sz="1000" dirty="0"/>
          </a:p>
        </p:txBody>
      </p:sp>
      <p:sp>
        <p:nvSpPr>
          <p:cNvPr id="34" name="Shape 32"/>
          <p:cNvSpPr/>
          <p:nvPr/>
        </p:nvSpPr>
        <p:spPr>
          <a:xfrm>
            <a:off x="5989320" y="2615184"/>
            <a:ext cx="2240280" cy="566928"/>
          </a:xfrm>
          <a:prstGeom prst="rect">
            <a:avLst/>
          </a:prstGeom>
          <a:solidFill>
            <a:srgbClr val="FFFFFF"/>
          </a:solidFill>
          <a:ln w="3810">
            <a:solidFill>
              <a:srgbClr val="CCCCCC"/>
            </a:solidFill>
            <a:prstDash val="solid"/>
          </a:ln>
        </p:spPr>
      </p:sp>
      <p:sp>
        <p:nvSpPr>
          <p:cNvPr id="35" name="Text 33"/>
          <p:cNvSpPr/>
          <p:nvPr/>
        </p:nvSpPr>
        <p:spPr>
          <a:xfrm>
            <a:off x="6044184" y="2660904"/>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pandas log parsing</a:t>
            </a:r>
            <a:endParaRPr lang="en-US" sz="1000" dirty="0"/>
          </a:p>
        </p:txBody>
      </p:sp>
      <p:sp>
        <p:nvSpPr>
          <p:cNvPr id="36" name="Shape 34"/>
          <p:cNvSpPr/>
          <p:nvPr/>
        </p:nvSpPr>
        <p:spPr>
          <a:xfrm>
            <a:off x="320040" y="3182112"/>
            <a:ext cx="1188720" cy="566928"/>
          </a:xfrm>
          <a:prstGeom prst="rect">
            <a:avLst/>
          </a:prstGeom>
          <a:solidFill>
            <a:srgbClr val="EAF4F2"/>
          </a:solidFill>
          <a:ln w="3810">
            <a:solidFill>
              <a:srgbClr val="CCCCCC"/>
            </a:solidFill>
            <a:prstDash val="solid"/>
          </a:ln>
        </p:spPr>
      </p:sp>
      <p:sp>
        <p:nvSpPr>
          <p:cNvPr id="37" name="Text 35"/>
          <p:cNvSpPr/>
          <p:nvPr/>
        </p:nvSpPr>
        <p:spPr>
          <a:xfrm>
            <a:off x="374904" y="3227832"/>
            <a:ext cx="1097280" cy="475488"/>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4 Lateral Move</a:t>
            </a:r>
            <a:endParaRPr lang="en-US" sz="1000" dirty="0"/>
          </a:p>
        </p:txBody>
      </p:sp>
      <p:sp>
        <p:nvSpPr>
          <p:cNvPr id="38" name="Shape 36"/>
          <p:cNvSpPr/>
          <p:nvPr/>
        </p:nvSpPr>
        <p:spPr>
          <a:xfrm>
            <a:off x="1508760" y="3182112"/>
            <a:ext cx="2240280" cy="566928"/>
          </a:xfrm>
          <a:prstGeom prst="rect">
            <a:avLst/>
          </a:prstGeom>
          <a:solidFill>
            <a:srgbClr val="EAF4F2"/>
          </a:solidFill>
          <a:ln w="3810">
            <a:solidFill>
              <a:srgbClr val="CCCCCC"/>
            </a:solidFill>
            <a:prstDash val="solid"/>
          </a:ln>
        </p:spPr>
      </p:sp>
      <p:sp>
        <p:nvSpPr>
          <p:cNvPr id="39" name="Text 37"/>
          <p:cNvSpPr/>
          <p:nvPr/>
        </p:nvSpPr>
        <p:spPr>
          <a:xfrm>
            <a:off x="1563624" y="3227832"/>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Pass-the-Hash auth</a:t>
            </a:r>
            <a:endParaRPr lang="en-US" sz="1000" dirty="0"/>
          </a:p>
        </p:txBody>
      </p:sp>
      <p:sp>
        <p:nvSpPr>
          <p:cNvPr id="40" name="Shape 38"/>
          <p:cNvSpPr/>
          <p:nvPr/>
        </p:nvSpPr>
        <p:spPr>
          <a:xfrm>
            <a:off x="3749040" y="3182112"/>
            <a:ext cx="2240280" cy="566928"/>
          </a:xfrm>
          <a:prstGeom prst="rect">
            <a:avLst/>
          </a:prstGeom>
          <a:solidFill>
            <a:srgbClr val="EAF4F2"/>
          </a:solidFill>
          <a:ln w="3810">
            <a:solidFill>
              <a:srgbClr val="CCCCCC"/>
            </a:solidFill>
            <a:prstDash val="solid"/>
          </a:ln>
        </p:spPr>
      </p:sp>
      <p:sp>
        <p:nvSpPr>
          <p:cNvPr id="41" name="Text 39"/>
          <p:cNvSpPr/>
          <p:nvPr/>
        </p:nvSpPr>
        <p:spPr>
          <a:xfrm>
            <a:off x="3803904" y="3227832"/>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Auth anomaly detection</a:t>
            </a:r>
            <a:endParaRPr lang="en-US" sz="1000" dirty="0"/>
          </a:p>
        </p:txBody>
      </p:sp>
      <p:sp>
        <p:nvSpPr>
          <p:cNvPr id="42" name="Shape 40"/>
          <p:cNvSpPr/>
          <p:nvPr/>
        </p:nvSpPr>
        <p:spPr>
          <a:xfrm>
            <a:off x="5989320" y="3182112"/>
            <a:ext cx="2240280" cy="566928"/>
          </a:xfrm>
          <a:prstGeom prst="rect">
            <a:avLst/>
          </a:prstGeom>
          <a:solidFill>
            <a:srgbClr val="EAF4F2"/>
          </a:solidFill>
          <a:ln w="3810">
            <a:solidFill>
              <a:srgbClr val="CCCCCC"/>
            </a:solidFill>
            <a:prstDash val="solid"/>
          </a:ln>
        </p:spPr>
      </p:sp>
      <p:sp>
        <p:nvSpPr>
          <p:cNvPr id="43" name="Text 41"/>
          <p:cNvSpPr/>
          <p:nvPr/>
        </p:nvSpPr>
        <p:spPr>
          <a:xfrm>
            <a:off x="6044184" y="3227832"/>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Isolation Forest</a:t>
            </a:r>
            <a:endParaRPr lang="en-US" sz="1000" dirty="0"/>
          </a:p>
        </p:txBody>
      </p:sp>
      <p:sp>
        <p:nvSpPr>
          <p:cNvPr id="44" name="Shape 42"/>
          <p:cNvSpPr/>
          <p:nvPr/>
        </p:nvSpPr>
        <p:spPr>
          <a:xfrm>
            <a:off x="320040" y="3749040"/>
            <a:ext cx="1188720" cy="566928"/>
          </a:xfrm>
          <a:prstGeom prst="rect">
            <a:avLst/>
          </a:prstGeom>
          <a:solidFill>
            <a:srgbClr val="FFFFFF"/>
          </a:solidFill>
          <a:ln w="3810">
            <a:solidFill>
              <a:srgbClr val="CCCCCC"/>
            </a:solidFill>
            <a:prstDash val="solid"/>
          </a:ln>
        </p:spPr>
      </p:sp>
      <p:sp>
        <p:nvSpPr>
          <p:cNvPr id="45" name="Text 43"/>
          <p:cNvSpPr/>
          <p:nvPr/>
        </p:nvSpPr>
        <p:spPr>
          <a:xfrm>
            <a:off x="374904" y="3794760"/>
            <a:ext cx="1097280" cy="475488"/>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5 Exfiltration</a:t>
            </a:r>
            <a:endParaRPr lang="en-US" sz="1000" dirty="0"/>
          </a:p>
        </p:txBody>
      </p:sp>
      <p:sp>
        <p:nvSpPr>
          <p:cNvPr id="46" name="Shape 44"/>
          <p:cNvSpPr/>
          <p:nvPr/>
        </p:nvSpPr>
        <p:spPr>
          <a:xfrm>
            <a:off x="1508760" y="3749040"/>
            <a:ext cx="2240280" cy="566928"/>
          </a:xfrm>
          <a:prstGeom prst="rect">
            <a:avLst/>
          </a:prstGeom>
          <a:solidFill>
            <a:srgbClr val="FFFFFF"/>
          </a:solidFill>
          <a:ln w="3810">
            <a:solidFill>
              <a:srgbClr val="CCCCCC"/>
            </a:solidFill>
            <a:prstDash val="solid"/>
          </a:ln>
        </p:spPr>
      </p:sp>
      <p:sp>
        <p:nvSpPr>
          <p:cNvPr id="47" name="Text 45"/>
          <p:cNvSpPr/>
          <p:nvPr/>
        </p:nvSpPr>
        <p:spPr>
          <a:xfrm>
            <a:off x="1563624" y="3794760"/>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HTTPS to C2 server</a:t>
            </a:r>
            <a:endParaRPr lang="en-US" sz="1000" dirty="0"/>
          </a:p>
        </p:txBody>
      </p:sp>
      <p:sp>
        <p:nvSpPr>
          <p:cNvPr id="48" name="Shape 46"/>
          <p:cNvSpPr/>
          <p:nvPr/>
        </p:nvSpPr>
        <p:spPr>
          <a:xfrm>
            <a:off x="3749040" y="3749040"/>
            <a:ext cx="2240280" cy="566928"/>
          </a:xfrm>
          <a:prstGeom prst="rect">
            <a:avLst/>
          </a:prstGeom>
          <a:solidFill>
            <a:srgbClr val="FFFFFF"/>
          </a:solidFill>
          <a:ln w="3810">
            <a:solidFill>
              <a:srgbClr val="CCCCCC"/>
            </a:solidFill>
            <a:prstDash val="solid"/>
          </a:ln>
        </p:spPr>
      </p:sp>
      <p:sp>
        <p:nvSpPr>
          <p:cNvPr id="49" name="Text 47"/>
          <p:cNvSpPr/>
          <p:nvPr/>
        </p:nvSpPr>
        <p:spPr>
          <a:xfrm>
            <a:off x="3803904" y="3794760"/>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DNS entropy analysis</a:t>
            </a:r>
            <a:endParaRPr lang="en-US" sz="1000" dirty="0"/>
          </a:p>
        </p:txBody>
      </p:sp>
      <p:sp>
        <p:nvSpPr>
          <p:cNvPr id="50" name="Shape 48"/>
          <p:cNvSpPr/>
          <p:nvPr/>
        </p:nvSpPr>
        <p:spPr>
          <a:xfrm>
            <a:off x="5989320" y="3749040"/>
            <a:ext cx="2240280" cy="566928"/>
          </a:xfrm>
          <a:prstGeom prst="rect">
            <a:avLst/>
          </a:prstGeom>
          <a:solidFill>
            <a:srgbClr val="FFFFFF"/>
          </a:solidFill>
          <a:ln w="3810">
            <a:solidFill>
              <a:srgbClr val="CCCCCC"/>
            </a:solidFill>
            <a:prstDash val="solid"/>
          </a:ln>
        </p:spPr>
      </p:sp>
      <p:sp>
        <p:nvSpPr>
          <p:cNvPr id="51" name="Text 49"/>
          <p:cNvSpPr/>
          <p:nvPr/>
        </p:nvSpPr>
        <p:spPr>
          <a:xfrm>
            <a:off x="6044184" y="3794760"/>
            <a:ext cx="2148840" cy="47548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math.log2 + Counter</a:t>
            </a:r>
            <a:endParaRPr lang="en-US" sz="1000" dirty="0"/>
          </a:p>
        </p:txBody>
      </p:sp>
      <p:sp>
        <p:nvSpPr>
          <p:cNvPr id="52" name="Text 50"/>
          <p:cNvSpPr/>
          <p:nvPr/>
        </p:nvSpPr>
        <p:spPr>
          <a:xfrm>
            <a:off x="320040" y="4434840"/>
            <a:ext cx="850392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Each row = a detection checkpoint. Every detection tool is buildable in Python.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00A896"/>
          </a:solidFill>
          <a:ln w="12700">
            <a:solidFill>
              <a:srgbClr val="00A896"/>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0D1B2A"/>
                </a:solidFill>
                <a:latin typeface="Calibri" pitchFamily="34" charset="0"/>
                <a:ea typeface="Calibri" pitchFamily="34" charset="-122"/>
                <a:cs typeface="Calibri" pitchFamily="34" charset="-120"/>
              </a:rPr>
              <a:t>09 | Career Pathways — Where This Takes You</a:t>
            </a:r>
            <a:endParaRPr lang="en-US" sz="2600" dirty="0"/>
          </a:p>
        </p:txBody>
      </p:sp>
      <p:sp>
        <p:nvSpPr>
          <p:cNvPr id="4" name="Text 2"/>
          <p:cNvSpPr/>
          <p:nvPr/>
        </p:nvSpPr>
        <p:spPr>
          <a:xfrm>
            <a:off x="457200" y="1005840"/>
            <a:ext cx="8229600" cy="3840480"/>
          </a:xfrm>
          <a:prstGeom prst="rect">
            <a:avLst/>
          </a:prstGeom>
          <a:noFill/>
          <a:ln/>
        </p:spPr>
        <p:txBody>
          <a:bodyPr wrap="square" rtlCol="0" anchor="ctr"/>
          <a:lstStyle/>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SOC Analyst / Detection Engineer — write Sigma/YARA rules, hunt threats, triage alerts (Python daily)</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Threat Intelligence Analyst — track APT groups, publish reports, feed CTI platforms (ThreatConnect, Recorded Future)</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Penetration Tester / Red Teamer — legally break systems, report findings, help organizations fix gaps</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AI Security Researcher — adversarial ML, federated learning for TI, LLM security (academia + industry)</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Cloud Security Engineer — secure AWS/Azure/GCP; IAM, CSPM, CNAPP tooling</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Certifications: Security+ (entry), eJPTv2 (pentest), OSCP (gold standard), CEH (India recognition), CASA-APIsec (API security)</a:t>
            </a:r>
            <a:endParaRPr lang="en-US" sz="1500" dirty="0"/>
          </a:p>
          <a:p>
            <a:pPr marL="342900" indent="-342900">
              <a:spcAft>
                <a:spcPts val="700"/>
              </a:spcAft>
              <a:buSzPct val="100000"/>
              <a:buChar char="•"/>
            </a:pPr>
            <a:r>
              <a:rPr lang="en-US" sz="1500" dirty="0">
                <a:solidFill>
                  <a:srgbClr val="1E293B"/>
                </a:solidFill>
                <a:latin typeface="Calibri" pitchFamily="34" charset="0"/>
                <a:ea typeface="Calibri" pitchFamily="34" charset="-122"/>
                <a:cs typeface="Calibri" pitchFamily="34" charset="-120"/>
              </a:rPr>
              <a:t>India opportunity: CERT-In, NCIIPC, RBI/IDRBT, SEBI, PSU banks, Big 4 advisory, CrowdStrike/SentinelOne India R&amp;D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A896"/>
          </a:solidFill>
          <a:ln w="12700">
            <a:solidFill>
              <a:srgbClr val="00A896"/>
            </a:solidFill>
            <a:prstDash val="solid"/>
          </a:ln>
        </p:spPr>
      </p:sp>
      <p:sp>
        <p:nvSpPr>
          <p:cNvPr id="3" name="Text 1"/>
          <p:cNvSpPr/>
          <p:nvPr/>
        </p:nvSpPr>
        <p:spPr>
          <a:xfrm>
            <a:off x="411480" y="502920"/>
            <a:ext cx="8321040" cy="594360"/>
          </a:xfrm>
          <a:prstGeom prst="rect">
            <a:avLst/>
          </a:prstGeom>
          <a:noFill/>
          <a:ln/>
        </p:spPr>
        <p:txBody>
          <a:bodyPr wrap="square" lIns="0" tIns="0" rIns="0" bIns="0"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Key Takeaways</a:t>
            </a:r>
            <a:endParaRPr lang="en-US" sz="2600" dirty="0"/>
          </a:p>
        </p:txBody>
      </p:sp>
      <p:sp>
        <p:nvSpPr>
          <p:cNvPr id="4" name="Text 2"/>
          <p:cNvSpPr/>
          <p:nvPr/>
        </p:nvSpPr>
        <p:spPr>
          <a:xfrm>
            <a:off x="411480" y="1188720"/>
            <a:ext cx="8321040" cy="3474720"/>
          </a:xfrm>
          <a:prstGeom prst="rect">
            <a:avLst/>
          </a:prstGeom>
          <a:noFill/>
          <a:ln/>
        </p:spPr>
        <p:txBody>
          <a:bodyPr wrap="square" rtlCol="0" anchor="ctr"/>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Cybersecurity is an AI battleground — attackers and defenders both use ML</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Python bridges theory and practice — every concept in this lecture is buildable with it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The 3-layer rule: Analogy → Concept → Code — that's how real understanding works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MITRE ATT&amp;CK gives defenders a structured map of every known attack technique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Adversarial ML means AI defenses must themselves be hardened — a growing research area</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3.5 million security jobs unfilled globally — the demand is real and it starts here</a:t>
            </a:r>
            <a:endParaRPr lang="en-US" sz="1400" dirty="0"/>
          </a:p>
        </p:txBody>
      </p:sp>
      <p:sp>
        <p:nvSpPr>
          <p:cNvPr id="5" name="Text 3"/>
          <p:cNvSpPr/>
          <p:nvPr/>
        </p:nvSpPr>
        <p:spPr>
          <a:xfrm>
            <a:off x="411480" y="4709160"/>
            <a:ext cx="8321040" cy="27432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Anvesh Raju Vishwaraju  |  anveshrajuv@gmail.com  |  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Cybersecurity – Demo Lecture v2</dc:title>
  <dc:subject>PptxGenJS Presentation</dc:subject>
  <dc:creator>Anvesh Raju Vishwaraju</dc:creator>
  <cp:lastModifiedBy>Anvesh Raju Vishwaraju</cp:lastModifiedBy>
  <cp:revision>1</cp:revision>
  <dcterms:created xsi:type="dcterms:W3CDTF">2026-04-24T06:27:20Z</dcterms:created>
  <dcterms:modified xsi:type="dcterms:W3CDTF">2026-04-24T06:27:20Z</dcterms:modified>
</cp:coreProperties>
</file>